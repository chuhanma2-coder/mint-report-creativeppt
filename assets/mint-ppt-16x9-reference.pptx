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3b63fe3924f39" /><Relationship Type="http://schemas.openxmlformats.org/officeDocument/2006/relationships/extended-properties" Target="/docProps/app.xml" Id="Rf558c50b220d43bc" /><Relationship Type="http://schemas.openxmlformats.org/officeDocument/2006/relationships/officeDocument" Target="/ppt/presentation.xml" Id="R94efb79b1c7f41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0b242ec8144b8"/>
  </p:sldMasterIdLst>
  <p:notesMasterIdLst>
    <p:notesMasterId xmlns:r="http://schemas.openxmlformats.org/officeDocument/2006/relationships" r:id="R3e160c3978b54409"/>
  </p:notesMasterIdLst>
  <p:sldIdLst>
    <p:sldId xmlns:r="http://schemas.openxmlformats.org/officeDocument/2006/relationships" id="256" r:id="Rf6af20770461437a"/>
    <p:sldId xmlns:r="http://schemas.openxmlformats.org/officeDocument/2006/relationships" id="257" r:id="Re67fce4034144c00"/>
    <p:sldId xmlns:r="http://schemas.openxmlformats.org/officeDocument/2006/relationships" id="258" r:id="Rda4e55fdff214628"/>
    <p:sldId xmlns:r="http://schemas.openxmlformats.org/officeDocument/2006/relationships" id="259" r:id="Rfb9b7fb8a1aa4fa5"/>
    <p:sldId xmlns:r="http://schemas.openxmlformats.org/officeDocument/2006/relationships" id="260" r:id="Ra0ce253603e74739"/>
    <p:sldId xmlns:r="http://schemas.openxmlformats.org/officeDocument/2006/relationships" id="261" r:id="Rf62385ffc56946c3"/>
    <p:sldId xmlns:r="http://schemas.openxmlformats.org/officeDocument/2006/relationships" id="262" r:id="R7f619faf56584c86"/>
    <p:sldId xmlns:r="http://schemas.openxmlformats.org/officeDocument/2006/relationships" id="263" r:id="R864bba29bef546aa"/>
    <p:sldId xmlns:r="http://schemas.openxmlformats.org/officeDocument/2006/relationships" id="264" r:id="Rf528236cfb0047ba"/>
    <p:sldId xmlns:r="http://schemas.openxmlformats.org/officeDocument/2006/relationships" id="265" r:id="Re0ccd72a11c54fb9"/>
    <p:sldId xmlns:r="http://schemas.openxmlformats.org/officeDocument/2006/relationships" id="266" r:id="R5426231130314d8d"/>
    <p:sldId xmlns:r="http://schemas.openxmlformats.org/officeDocument/2006/relationships" id="267" r:id="Rd20e3f8cbdf24261"/>
    <p:sldId xmlns:r="http://schemas.openxmlformats.org/officeDocument/2006/relationships" id="268" r:id="R6f9c19c0407d4855"/>
    <p:sldId xmlns:r="http://schemas.openxmlformats.org/officeDocument/2006/relationships" id="269" r:id="Rb70c9159a85f48ca"/>
    <p:sldId xmlns:r="http://schemas.openxmlformats.org/officeDocument/2006/relationships" id="270" r:id="R713a3d77f1654465"/>
    <p:sldId xmlns:r="http://schemas.openxmlformats.org/officeDocument/2006/relationships" id="271" r:id="R16b77a21b3754066"/>
    <p:sldId xmlns:r="http://schemas.openxmlformats.org/officeDocument/2006/relationships" id="272" r:id="R2debcf226b144de7"/>
    <p:sldId xmlns:r="http://schemas.openxmlformats.org/officeDocument/2006/relationships" id="273" r:id="R2af61079f7c249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81eff20f74420" /><Relationship Type="http://schemas.openxmlformats.org/officeDocument/2006/relationships/slideMaster" Target="/ppt/slideMasters/slideMaster1.xml" Id="R55d0b242ec8144b8" /><Relationship Type="http://schemas.openxmlformats.org/officeDocument/2006/relationships/notesMaster" Target="/ppt/notesMasters/notesMaster1.xml" Id="R3e160c3978b54409" /><Relationship Type="http://schemas.openxmlformats.org/officeDocument/2006/relationships/presProps" Target="/ppt/presProps.xml" Id="R2c22dd2ff2d74560" /><Relationship Type="http://schemas.openxmlformats.org/officeDocument/2006/relationships/tableStyles" Target="/ppt/tableStyles.xml" Id="R0185da58882e443d" /><Relationship Type="http://schemas.openxmlformats.org/officeDocument/2006/relationships/slide" Target="/ppt/slides/slide1.xml" Id="Rf6af20770461437a" /><Relationship Type="http://schemas.openxmlformats.org/officeDocument/2006/relationships/slide" Target="/ppt/slides/slide2.xml" Id="Re67fce4034144c00" /><Relationship Type="http://schemas.openxmlformats.org/officeDocument/2006/relationships/slide" Target="/ppt/slides/slide3.xml" Id="Rda4e55fdff214628" /><Relationship Type="http://schemas.openxmlformats.org/officeDocument/2006/relationships/slide" Target="/ppt/slides/slide4.xml" Id="Rfb9b7fb8a1aa4fa5" /><Relationship Type="http://schemas.openxmlformats.org/officeDocument/2006/relationships/slide" Target="/ppt/slides/slide5.xml" Id="Ra0ce253603e74739" /><Relationship Type="http://schemas.openxmlformats.org/officeDocument/2006/relationships/slide" Target="/ppt/slides/slide6.xml" Id="Rf62385ffc56946c3" /><Relationship Type="http://schemas.openxmlformats.org/officeDocument/2006/relationships/slide" Target="/ppt/slides/slide7.xml" Id="R7f619faf56584c86" /><Relationship Type="http://schemas.openxmlformats.org/officeDocument/2006/relationships/slide" Target="/ppt/slides/slide8.xml" Id="R864bba29bef546aa" /><Relationship Type="http://schemas.openxmlformats.org/officeDocument/2006/relationships/slide" Target="/ppt/slides/slide9.xml" Id="Rf528236cfb0047ba" /><Relationship Type="http://schemas.openxmlformats.org/officeDocument/2006/relationships/slide" Target="/ppt/slides/slide10.xml" Id="Re0ccd72a11c54fb9" /><Relationship Type="http://schemas.openxmlformats.org/officeDocument/2006/relationships/slide" Target="/ppt/slides/slide11.xml" Id="R5426231130314d8d" /><Relationship Type="http://schemas.openxmlformats.org/officeDocument/2006/relationships/slide" Target="/ppt/slides/slide12.xml" Id="Rd20e3f8cbdf24261" /><Relationship Type="http://schemas.openxmlformats.org/officeDocument/2006/relationships/slide" Target="/ppt/slides/slide13.xml" Id="R6f9c19c0407d4855" /><Relationship Type="http://schemas.openxmlformats.org/officeDocument/2006/relationships/slide" Target="/ppt/slides/slide14.xml" Id="Rb70c9159a85f48ca" /><Relationship Type="http://schemas.openxmlformats.org/officeDocument/2006/relationships/slide" Target="/ppt/slides/slide15.xml" Id="R713a3d77f1654465" /><Relationship Type="http://schemas.openxmlformats.org/officeDocument/2006/relationships/slide" Target="/ppt/slides/slide16.xml" Id="R16b77a21b3754066" /><Relationship Type="http://schemas.openxmlformats.org/officeDocument/2006/relationships/slide" Target="/ppt/slides/slide17.xml" Id="R2debcf226b144de7" /><Relationship Type="http://schemas.openxmlformats.org/officeDocument/2006/relationships/slide" Target="/ppt/slides/slide18.xml" Id="R2af61079f7c249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c6b137d9c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Bank">
  <a:themeElements>
    <a:clrScheme name="Mint Financial Platform">
      <a:dk1>
        <a:srgbClr val="17201D"/>
      </a:dk1>
      <a:lt1>
        <a:srgbClr val="FFF8EA"/>
      </a:lt1>
      <a:dk2>
        <a:srgbClr val="52615B"/>
      </a:dk2>
      <a:lt2>
        <a:srgbClr val="EDF2EF"/>
      </a:lt2>
      <a:accent1>
        <a:srgbClr val="12695D"/>
      </a:accent1>
      <a:accent2>
        <a:srgbClr val="BD7227"/>
      </a:accent2>
      <a:accent3>
        <a:srgbClr val="2B6288"/>
      </a:accent3>
      <a:accent4>
        <a:srgbClr val="43B36D"/>
      </a:accent4>
      <a:accent5>
        <a:srgbClr val="12352E"/>
      </a:accent5>
      <a:accent6>
        <a:srgbClr val="9B2121"/>
      </a:accent6>
      <a:hlink>
        <a:srgbClr val="2B6288"/>
      </a:hlink>
      <a:folHlink>
        <a:srgbClr val="BD7227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Mint Financial Platfo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22dc30f08f498a" /><Relationship Type="http://schemas.openxmlformats.org/officeDocument/2006/relationships/notesMaster" Target="/ppt/notesMasters/notesMaster1.xml" Id="Rc8925cb78a834c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76e6fcca94461" /><Relationship Type="http://schemas.openxmlformats.org/officeDocument/2006/relationships/notesMaster" Target="/ppt/notesMasters/notesMaster1.xml" Id="Re31c58c3eb4f4f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6c1ad5bdbb4940" /><Relationship Type="http://schemas.openxmlformats.org/officeDocument/2006/relationships/notesMaster" Target="/ppt/notesMasters/notesMaster1.xml" Id="R94db21118bc3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46468cbb1149ef" /><Relationship Type="http://schemas.openxmlformats.org/officeDocument/2006/relationships/notesMaster" Target="/ppt/notesMasters/notesMaster1.xml" Id="R79a9e37cca62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05766870df418d" /><Relationship Type="http://schemas.openxmlformats.org/officeDocument/2006/relationships/notesMaster" Target="/ppt/notesMasters/notesMaster1.xml" Id="R884370a6d2fb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0eff89547b48fc" /><Relationship Type="http://schemas.openxmlformats.org/officeDocument/2006/relationships/notesMaster" Target="/ppt/notesMasters/notesMaster1.xml" Id="Rc0d24154bd684f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b6162ac5df4409" /><Relationship Type="http://schemas.openxmlformats.org/officeDocument/2006/relationships/notesMaster" Target="/ppt/notesMasters/notesMaster1.xml" Id="R6a12284bf5e84b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f22a89d97a475a" /><Relationship Type="http://schemas.openxmlformats.org/officeDocument/2006/relationships/notesMaster" Target="/ppt/notesMasters/notesMaster1.xml" Id="Racac9c0c3eb540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f34e1662a24677" /><Relationship Type="http://schemas.openxmlformats.org/officeDocument/2006/relationships/notesMaster" Target="/ppt/notesMasters/notesMaster1.xml" Id="R2a99ec4bd5c7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878dcbd89e441e" /><Relationship Type="http://schemas.openxmlformats.org/officeDocument/2006/relationships/notesMaster" Target="/ppt/notesMasters/notesMaster1.xml" Id="Rf6ec89df29f14d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e2f5fddab4ee3" /><Relationship Type="http://schemas.openxmlformats.org/officeDocument/2006/relationships/notesMaster" Target="/ppt/notesMasters/notesMaster1.xml" Id="R06310ff757d848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8680ad50c04007" /><Relationship Type="http://schemas.openxmlformats.org/officeDocument/2006/relationships/notesMaster" Target="/ppt/notesMasters/notesMaster1.xml" Id="Recdf20ef26a141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51d48785f24546" /><Relationship Type="http://schemas.openxmlformats.org/officeDocument/2006/relationships/notesMaster" Target="/ppt/notesMasters/notesMaster1.xml" Id="R374e51e8e98d4e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fba749d4a04b22" /><Relationship Type="http://schemas.openxmlformats.org/officeDocument/2006/relationships/notesMaster" Target="/ppt/notesMasters/notesMaster1.xml" Id="Rfd717aa9bd9b47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c15f8aeeb043ec" /><Relationship Type="http://schemas.openxmlformats.org/officeDocument/2006/relationships/notesMaster" Target="/ppt/notesMasters/notesMaster1.xml" Id="R403e241a4ab74d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065e0ffe714aff" /><Relationship Type="http://schemas.openxmlformats.org/officeDocument/2006/relationships/notesMaster" Target="/ppt/notesMasters/notesMaster1.xml" Id="Rf7fad246a0b148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3654003b4f4200" /><Relationship Type="http://schemas.openxmlformats.org/officeDocument/2006/relationships/notesMaster" Target="/ppt/notesMasters/notesMaster1.xml" Id="R1565e1d780604d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7453e862054693" /><Relationship Type="http://schemas.openxmlformats.org/officeDocument/2006/relationships/notesMaster" Target="/ppt/notesMasters/notesMaster1.xml" Id="R261794eea48844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  <a:p xmlns:a="http://schemas.openxmlformats.org/drawingml/2006/main">
            <a:r>
              <a:t>- Generated Mint v7 cover background: mint-cover-phone-card-leaves-v7.png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[Sources]</a:t>
            </a:r>
          </a:p>
          <a:p xmlns:a="http://schemas.openxmlformats.org/drawingml/2006/main">
            <a:pPr indent="0" algn="l">
              <a:buNone/>
            </a:pPr>
            <a:r>
              <a:t>- User-provided local template: WeBank_PPT_16比9.pptx</a:t>
            </a:r>
          </a:p>
          <a:p xmlns:a="http://schemas.openxmlformats.org/drawingml/2006/main">
            <a:pPr indent="0" algn="l">
              <a:buNone/>
            </a:pPr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[Sources]</a:t>
            </a:r>
          </a:p>
          <a:p xmlns:a="http://schemas.openxmlformats.org/drawingml/2006/main">
            <a:pPr indent="0" algn="l">
              <a:buNone/>
            </a:pPr>
            <a:r>
              <a:t>- User-provided local template: WeBank_PPT_16比9.pptx</a:t>
            </a:r>
          </a:p>
          <a:p xmlns:a="http://schemas.openxmlformats.org/drawingml/2006/main">
            <a:pPr indent="0" algn="l">
              <a:buNone/>
            </a:pPr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[Sources]</a:t>
            </a:r>
          </a:p>
          <a:p xmlns:a="http://schemas.openxmlformats.org/drawingml/2006/main">
            <a:pPr indent="0" algn="l">
              <a:buNone/>
            </a:pPr>
            <a:r>
              <a:t>- User-provided local template: WeBank_PPT_16比9.pptx</a:t>
            </a:r>
          </a:p>
          <a:p xmlns:a="http://schemas.openxmlformats.org/drawingml/2006/main">
            <a:pPr indent="0" algn="l">
              <a:buNone/>
            </a:pPr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[Sources]</a:t>
            </a:r>
          </a:p>
          <a:p xmlns:a="http://schemas.openxmlformats.org/drawingml/2006/main">
            <a:pPr indent="0" algn="l">
              <a:buNone/>
            </a:pPr>
            <a:r>
              <a:t>- User-provided local template: WeBank_PPT_16比9.pptx</a:t>
            </a:r>
          </a:p>
          <a:p xmlns:a="http://schemas.openxmlformats.org/drawingml/2006/main">
            <a:pPr indent="0" algn="l">
              <a:buNone/>
            </a:pPr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[Sources]</a:t>
            </a:r>
          </a:p>
          <a:p xmlns:a="http://schemas.openxmlformats.org/drawingml/2006/main">
            <a:pPr indent="0" algn="l">
              <a:buNone/>
            </a:pPr>
            <a:r>
              <a:t>- User-provided local template: WeBank_PPT_16比9.pptx</a:t>
            </a:r>
          </a:p>
          <a:p xmlns:a="http://schemas.openxmlformats.org/drawingml/2006/main">
            <a:pPr indent="0" algn="l">
              <a:buNone/>
            </a:pPr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[Sources]</a:t>
            </a:r>
          </a:p>
          <a:p xmlns:a="http://schemas.openxmlformats.org/drawingml/2006/main">
            <a:pPr indent="0" algn="l">
              <a:buNone/>
            </a:pPr>
            <a:r>
              <a:t>- User-provided local template: WeBank_PPT_16比9.pptx</a:t>
            </a:r>
          </a:p>
          <a:p xmlns:a="http://schemas.openxmlformats.org/drawingml/2006/main">
            <a:pPr indent="0" algn="l">
              <a:buNone/>
            </a:pPr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  <a:p xmlns:a="http://schemas.openxmlformats.org/drawingml/2006/main">
            <a:r>
              <a:t>- Local Mint visual: mint-finance-ecosystem-editorial-v1.png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 template: WeBank_PPT_16比9.pptx</a:t>
            </a:r>
          </a:p>
          <a:p xmlns:a="http://schemas.openxmlformats.org/drawingml/2006/main">
            <a:r>
              <a:t>- Local Mint brand source: Mint项目汇报材料空白模板-16比9.html</a:t>
            </a:r>
          </a:p>
          <a:p xmlns:a="http://schemas.openxmlformats.org/drawingml/2006/main">
            <a:r>
              <a:t>- Generated Mint closing background: mint-cover-abstract-v2.png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5239bf45e453b" /><Relationship Type="http://schemas.openxmlformats.org/officeDocument/2006/relationships/image" Target="/ppt/media/image.png" Id="R9cfe8e5e6e224529" /><Relationship Type="http://schemas.openxmlformats.org/officeDocument/2006/relationships/image" Target="/ppt/media/image2.png" Id="R69d21f42ffe04f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d1802a08947dc" /><Relationship Type="http://schemas.openxmlformats.org/officeDocument/2006/relationships/image" Target="/ppt/media/image2.png" Id="R7b45a5fbf37d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87757553a4719" /><Relationship Type="http://schemas.openxmlformats.org/officeDocument/2006/relationships/image" Target="/ppt/media/image2.png" Id="Rd1ae1864b2bc48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d31c0eabd4a4c" /><Relationship Type="http://schemas.openxmlformats.org/officeDocument/2006/relationships/image" Target="/ppt/media/image2.png" Id="Re9cbc0c5bd2145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e66b9c19a49a6" /><Relationship Type="http://schemas.openxmlformats.org/officeDocument/2006/relationships/image" Target="/ppt/media/image3.png" Id="R9d64a533a18045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ed677259847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f6272d1054a5e" /></Relationships>
</file>

<file path=ppt/slideLayouts/slideLayout1.xml><?xml version="1.0" encoding="utf-8"?>
<p:sldLayout xmlns:p="http://schemas.openxmlformats.org/presentationml/2006/main" type="blank" preserve="1">
  <p:cSld name="Mint｜封面与封底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4717C3B-FD2D-4470-A88A-FCFEB2D372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1863000"/>
            <a:ext cx="6535080" cy="236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buNone/>
              <a:defRPr sz="48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buNone/>
              <a:defRPr>
                <a:solidFill>
                  <a:srgbClr val="12695D"/>
                </a:solidFill>
              </a:defRPr>
            </a:pPr>
            <a:r>
              <a:rPr sz="48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点击修改标题 </a:t>
            </a:r>
            <a:r>
              <a:rPr sz="48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088697C-DE48-4AEA-8FBE-A45DB84CEFB0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4358160"/>
            <a:ext cx="6535080" cy="8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800" b="1" u="none">
                <a:solidFill>
                  <a:schemeClr val="accent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1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</p:txBody>
      </p:sp>
      <p:pic>
        <p:nvPicPr>
          <p:cNvPr id="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8e5e6e2245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21f42ffe04f81"/>
          <a:stretch xmlns:a="http://schemas.openxmlformats.org/drawingml/2006/main"/>
        </p:blipFill>
        <p:spPr>
          <a:xfrm xmlns:a="http://schemas.openxmlformats.org/drawingml/2006/main">
            <a:off x="775620" y="677520"/>
            <a:ext cx="1001880" cy="322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Mint｜标题与正文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D3AEAE4-F6F4-4386-BFD5-4304ECC17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F86DD36-4018-4C4D-83E8-723A40487523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1333440"/>
            <a:ext cx="11277360" cy="4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pic>
        <p:nvPicPr>
          <p:cNvPr id="1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5a5fbf37d40bb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9CFDBB7E-A172-46CF-93B3-E58A30B6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3.xml><?xml version="1.0" encoding="utf-8"?>
<p:sldLayout xmlns:p="http://schemas.openxmlformats.org/presentationml/2006/main" type="blank" preserve="1">
  <p:cSld name="Mint｜两行标题与正文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672F0C3-C663-4719-B7E1-556AA65FD511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1638360"/>
            <a:ext cx="11277360" cy="453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sp>
        <p:nvSpPr>
          <p:cNvPr id="1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10333CB-FD93-4745-B778-031DF80087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119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  <a:br>
              <a:rPr>
                <a:solidFill>
                  <a:srgbClr val="12695D"/>
                </a:solidFill>
              </a:rPr>
            </a:b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</a:p>
        </p:txBody>
      </p:sp>
      <p:pic>
        <p:nvPicPr>
          <p:cNvPr id="1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e1864b2bc4857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5FCC0F3B-81D6-4781-BC3E-FADF57D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4.xml><?xml version="1.0" encoding="utf-8"?>
<p:sldLayout xmlns:p="http://schemas.openxmlformats.org/presentationml/2006/main" type="blank" preserve="1">
  <p:cSld name="Mint｜双栏内容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CF03417-87B5-4E47-B4CE-025EC4697232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57200" y="1338840"/>
            <a:ext cx="4343040" cy="483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F6C5E5C-E352-457F-8B91-86256472750A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018040" y="1338840"/>
            <a:ext cx="6716520" cy="48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3pPr>
            <a:lvl4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4pPr>
            <a:lvl5pPr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 sz="1800" b="0" u="none">
                <a:solidFill>
                  <a:schemeClr val="dk2"/>
                </a:solidFill>
                <a:latin typeface="思源黑体 CN Regular"/>
                <a:ea typeface="思源黑体 CN Regular"/>
                <a:cs typeface="思源黑体 CN Regular"/>
              </a:defRPr>
            </a:lvl5pPr>
          </a:lstStyle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编辑母版文本样式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第二级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第三级</a:t>
            </a:r>
          </a:p>
          <a:p xmlns:a="http://schemas.openxmlformats.org/drawingml/2006/main"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第四级</a:t>
            </a:r>
          </a:p>
          <a:p xmlns:a="http://schemas.openxmlformats.org/drawingml/2006/main"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第五级</a:t>
            </a:r>
          </a:p>
        </p:txBody>
      </p:sp>
      <p:sp>
        <p:nvSpPr>
          <p:cNvPr id="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C0C7722-1A6F-45BE-AF54-903C070BF7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Master title style</a:t>
            </a:r>
            <a:br>
              <a:rPr>
                <a:solidFill>
                  <a:srgbClr val="12695D"/>
                </a:solidFill>
              </a:rPr>
            </a:br>
          </a:p>
        </p:txBody>
      </p:sp>
      <p:pic>
        <p:nvPicPr>
          <p:cNvPr id="2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bc0c5bd2145e6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3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D3504EAB-1F68-44E0-ACC1-DDC5F8E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5.xml><?xml version="1.0" encoding="utf-8"?>
<p:sldLayout xmlns:p="http://schemas.openxmlformats.org/presentationml/2006/main" type="blank" preserve="1">
  <p:cSld name="Mint｜章节页">
    <p:bg>
      <p:bgPr>
        <a:solidFill xmlns:a="http://schemas.openxmlformats.org/drawingml/2006/main">
          <a:srgbClr val="123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0AAAB68-A323-4E6B-B861-2338D7FAB1E2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sz="12000" b="0" u="none">
                <a:solidFill>
                  <a:schemeClr val="accent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00</a:t>
            </a: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43873D9-7A68-4D1E-BBEC-3015184F9F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637884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36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章节页标题</a:t>
            </a:r>
            <a:br>
              <a:rPr>
                <a:solidFill>
                  <a:srgbClr val="FFF8EA"/>
                </a:solidFill>
              </a:rPr>
            </a:br>
            <a:r>
              <a:rPr sz="3600" b="1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思源黑体 </a:t>
            </a:r>
            <a:r>
              <a:rPr sz="3600" b="1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Regular 36pt</a:t>
            </a:r>
            <a:br>
              <a:rPr>
                <a:solidFill>
                  <a:srgbClr val="FFF8EA"/>
                </a:solidFill>
              </a:rPr>
            </a:br>
          </a:p>
        </p:txBody>
      </p:sp>
      <p:sp>
        <p:nvSpPr>
          <p:cNvPr id="2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888691C-AA48-4500-A5E4-0E2A4AEC0FFC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817520" y="6400800"/>
            <a:ext cx="254592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sz="1000" b="0" u="none">
                <a:solidFill>
                  <a:schemeClr val="lt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000" b="0" u="none">
                <a:solidFill>
                  <a:srgbClr val="FFF8EA"/>
                </a:solidFill>
                <a:latin typeface="思源黑体 CN Regular"/>
                <a:ea typeface="思源黑体 CN Regular"/>
                <a:cs typeface="思源黑体 CN Regular"/>
              </a:rPr>
              <a:t>标题：</a:t>
            </a:r>
          </a:p>
        </p:txBody>
      </p:sp>
      <p:pic>
        <p:nvPicPr>
          <p:cNvPr id="2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a533a18045c4"/>
          <a:stretch xmlns:a="http://schemas.openxmlformats.org/drawingml/2006/main"/>
        </p:blipFill>
        <p:spPr>
          <a:xfrm xmlns:a="http://schemas.openxmlformats.org/drawingml/2006/main">
            <a:off x="598375" y="6397560"/>
            <a:ext cx="475809" cy="153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blank" preserve="1">
  <p:cSld name="Mint｜全幅图片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07329A-2D93-4481-8DAC-C4429AA6856D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  <a:lvl2pPr indent="0" algn="ctr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2pPr>
            <a:lvl3pPr indent="0" algn="ctr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3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思源黑体 CN Regular"/>
                <a:ea typeface="思源黑体 CN Regular"/>
                <a:cs typeface="思源黑体 CN Regular"/>
              </a:rPr>
              <a:t>点击插入图片</a:t>
            </a:r>
          </a:p>
          <a:p xmlns:a="http://schemas.openxmlformats.org/drawingml/2006/main"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5759E98-F45E-429C-A423-2F4308571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 defTabSz="914400">
              <a:lnSpc>
                <a:spcPct val="110000"/>
              </a:lnSpc>
              <a:buNone/>
              <a:defRPr sz="3200" b="1" u="none">
                <a:solidFill>
                  <a:schemeClr val="dk1"/>
                </a:solidFill>
                <a:latin typeface="思源黑体 CN Regular"/>
                <a:ea typeface="思源黑体 CN Regular"/>
                <a:cs typeface="思源黑体 CN Regular"/>
              </a:defRPr>
            </a:lvl1pPr>
          </a:lstStyle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思源黑体 CN Regular"/>
                <a:ea typeface="思源黑体 CN Regular"/>
                <a:cs typeface="思源黑体 CN Regular"/>
              </a:rPr>
              <a:t>Click to edit the title text format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Mint｜空白页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8461e9bb6432c" /><Relationship Type="http://schemas.openxmlformats.org/officeDocument/2006/relationships/slideLayout" Target="/ppt/slideLayouts/slideLayout1.xml" Id="R5a09ab4d43c34922" /><Relationship Type="http://schemas.openxmlformats.org/officeDocument/2006/relationships/slideLayout" Target="/ppt/slideLayouts/slideLayout2.xml" Id="R5b9b8200c8594485" /><Relationship Type="http://schemas.openxmlformats.org/officeDocument/2006/relationships/slideLayout" Target="/ppt/slideLayouts/slideLayout3.xml" Id="Rfd77ee780b4c4d84" /><Relationship Type="http://schemas.openxmlformats.org/officeDocument/2006/relationships/slideLayout" Target="/ppt/slideLayouts/slideLayout4.xml" Id="Raf35d2e0ba76478f" /><Relationship Type="http://schemas.openxmlformats.org/officeDocument/2006/relationships/slideLayout" Target="/ppt/slideLayouts/slideLayout5.xml" Id="R902e69c147764e12" /><Relationship Type="http://schemas.openxmlformats.org/officeDocument/2006/relationships/slideLayout" Target="/ppt/slideLayouts/slideLayout6.xml" Id="Rd1a8d32f69214d6c" /><Relationship Type="http://schemas.openxmlformats.org/officeDocument/2006/relationships/slideLayout" Target="/ppt/slideLayouts/slideLayout7.xml" Id="Rcac254636d0b4eb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9ab4d43c34922"/>
    <p:sldLayoutId xmlns:r="http://schemas.openxmlformats.org/officeDocument/2006/relationships" id="2147483650" r:id="R5b9b8200c8594485"/>
    <p:sldLayoutId xmlns:r="http://schemas.openxmlformats.org/officeDocument/2006/relationships" id="2147483651" r:id="Rfd77ee780b4c4d84"/>
    <p:sldLayoutId xmlns:r="http://schemas.openxmlformats.org/officeDocument/2006/relationships" id="2147483652" r:id="Raf35d2e0ba76478f"/>
    <p:sldLayoutId xmlns:r="http://schemas.openxmlformats.org/officeDocument/2006/relationships" id="2147483653" r:id="R902e69c147764e12"/>
    <p:sldLayoutId xmlns:r="http://schemas.openxmlformats.org/officeDocument/2006/relationships" id="2147483654" r:id="Rd1a8d32f69214d6c"/>
    <p:sldLayoutId xmlns:r="http://schemas.openxmlformats.org/officeDocument/2006/relationships" id="2147483655" r:id="Rcac254636d0b4eb3"/>
  </p:sldLayoutIdLst>
</p:sldMaster>
</file>

<file path=ppt/slideMasters/theme/theme2.xml><?xml version="1.0" encoding="utf-8"?>
<a:theme xmlns:a="http://schemas.openxmlformats.org/drawingml/2006/main" name="WeBank">
  <a:themeElements>
    <a:clrScheme name="WeBank666">
      <a:dk1>
        <a:srgbClr val="1E53A4"/>
      </a:dk1>
      <a:lt1>
        <a:srgbClr val="FFFFFF"/>
      </a:lt1>
      <a:dk2>
        <a:srgbClr val="000000"/>
      </a:dk2>
      <a:lt2>
        <a:srgbClr val="E7E6E6"/>
      </a:lt2>
      <a:accent1>
        <a:srgbClr val="D80C18"/>
      </a:accent1>
      <a:accent2>
        <a:srgbClr val="FF5582"/>
      </a:accent2>
      <a:accent3>
        <a:srgbClr val="64CDFF"/>
      </a:accent3>
      <a:accent4>
        <a:srgbClr val="002882"/>
      </a:accent4>
      <a:accent5>
        <a:srgbClr val="EAEAEA"/>
      </a:accent5>
      <a:accent6>
        <a:srgbClr val="D5D5D5"/>
      </a:accent6>
      <a:hlink>
        <a:srgbClr val="1E53A3"/>
      </a:hlink>
      <a:folHlink>
        <a:srgbClr val="D80C18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WeBank66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569f755be47b7" /><Relationship Type="http://schemas.openxmlformats.org/officeDocument/2006/relationships/image" Target="/ppt/media/image4.png" Id="Ra2724e52c9084615" /><Relationship Type="http://schemas.openxmlformats.org/officeDocument/2006/relationships/image" Target="/ppt/media/image5.png" Id="Re6a2daf9be02439a" /><Relationship Type="http://schemas.openxmlformats.org/officeDocument/2006/relationships/notesSlide" Target="/ppt/notesSlides/notesSlide1.xml" Id="R7b798ce2810a4b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f20ba561f347be" /><Relationship Type="http://schemas.openxmlformats.org/officeDocument/2006/relationships/notesSlide" Target="/ppt/notesSlides/notesSlide2.xml" Id="R054c9785538a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a6748c802c4d68" /><Relationship Type="http://schemas.openxmlformats.org/officeDocument/2006/relationships/notesSlide" Target="/ppt/notesSlides/notesSlide3.xml" Id="R864edfaf624f47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ff6c9bb57456b" /><Relationship Type="http://schemas.openxmlformats.org/officeDocument/2006/relationships/notesSlide" Target="/ppt/notesSlides/notesSlide4.xml" Id="Rd32d1a652c77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3a2521eea64bed" /><Relationship Type="http://schemas.openxmlformats.org/officeDocument/2006/relationships/notesSlide" Target="/ppt/notesSlides/notesSlide5.xml" Id="R6ab348edc1914a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78e56c14d44af" /><Relationship Type="http://schemas.openxmlformats.org/officeDocument/2006/relationships/notesSlide" Target="/ppt/notesSlides/notesSlide6.xml" Id="R8049be0e743c43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c628edcd7374d03" /><Relationship Type="http://schemas.openxmlformats.org/officeDocument/2006/relationships/chart" Target="/ppt/slides/charts/chart1.xml" Id="R519fd5bec129497a" /><Relationship Type="http://schemas.openxmlformats.org/officeDocument/2006/relationships/notesSlide" Target="/ppt/notesSlides/notesSlide7.xml" Id="Reb9e442fd01c45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289eb2ee4b745a5" /><Relationship Type="http://schemas.openxmlformats.org/officeDocument/2006/relationships/chart" Target="/ppt/slides/charts/chart2.xml" Id="R718cfdf337014b97" /><Relationship Type="http://schemas.openxmlformats.org/officeDocument/2006/relationships/notesSlide" Target="/ppt/notesSlides/notesSlide8.xml" Id="R058c425a77904a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60e4733284057" /><Relationship Type="http://schemas.openxmlformats.org/officeDocument/2006/relationships/notesSlide" Target="/ppt/notesSlides/notesSlide9.xml" Id="Rd75017a496b3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27cb0bb131445d5" /><Relationship Type="http://schemas.openxmlformats.org/officeDocument/2006/relationships/chart" Target="/ppt/slides/charts/chart3.xml" Id="Re5447c0ed5394c26" /><Relationship Type="http://schemas.openxmlformats.org/officeDocument/2006/relationships/notesSlide" Target="/ppt/notesSlides/notesSlide10.xml" Id="R88c5673bae7f4f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bbb1c93c94810" /><Relationship Type="http://schemas.openxmlformats.org/officeDocument/2006/relationships/image" Target="/ppt/media/image6.png" Id="R138107b25c034151" /><Relationship Type="http://schemas.openxmlformats.org/officeDocument/2006/relationships/notesSlide" Target="/ppt/notesSlides/notesSlide11.xml" Id="Rd73f2103e37b42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271027088e4ad6" /><Relationship Type="http://schemas.openxmlformats.org/officeDocument/2006/relationships/notesSlide" Target="/ppt/notesSlides/notesSlide12.xml" Id="Rfa72f80ceb7148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be1c48ce5d240da" /><Relationship Type="http://schemas.openxmlformats.org/officeDocument/2006/relationships/notesSlide" Target="/ppt/notesSlides/notesSlide13.xml" Id="R60b4fd7012534c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3e0e29741a42c5" /><Relationship Type="http://schemas.openxmlformats.org/officeDocument/2006/relationships/notesSlide" Target="/ppt/notesSlides/notesSlide14.xml" Id="R777a2199b52944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daccf5ac444ae7" /><Relationship Type="http://schemas.openxmlformats.org/officeDocument/2006/relationships/notesSlide" Target="/ppt/notesSlides/notesSlide15.xml" Id="R916a43693ecc42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b03bdd42674dff" /><Relationship Type="http://schemas.openxmlformats.org/officeDocument/2006/relationships/notesSlide" Target="/ppt/notesSlides/notesSlide16.xml" Id="R518e3d17c46d42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df6123afcf4417" /><Relationship Type="http://schemas.openxmlformats.org/officeDocument/2006/relationships/notesSlide" Target="/ppt/notesSlides/notesSlide17.xml" Id="Re56e0ceabf3544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4aa5241e4460c" /><Relationship Type="http://schemas.openxmlformats.org/officeDocument/2006/relationships/image" Target="/ppt/media/image7.png" Id="R93c4d944a31a44fd" /><Relationship Type="http://schemas.openxmlformats.org/officeDocument/2006/relationships/notesSlide" Target="/ppt/notesSlides/notesSlide18.xml" Id="R8d998773dba8428c" /></Relationships>
</file>

<file path=ppt/slides/charts/chart1.xml><?xml version="1.0" encoding="utf-8"?>
<c:chartSpace xmlns:c="http://schemas.openxmlformats.org/drawingml/2006/chart">
  <c:lang val="en-US"/>
  <c:roundedCorners val="0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业务组合示例</a:t>
            </a:r>
          </a:p>
        </c:rich>
      </c:tx>
      <c:layout>
        <c:manualLayout>
          <c:xMode val="edge"/>
          <c:yMode val="edge"/>
          <c:x val="0.382892057026477"/>
          <c:y val="7.4471254095919E-05"/>
        </c:manualLayout>
      </c:layout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 u="none">
              <a:solidFill>
                <a:srgbClr val="17201D"/>
              </a:solidFill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barChart>
        <c:barDir val="col"/>
        <c:grouping val="percent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核心业务</c:v>
                </c:pt>
              </c:strCache>
            </c:strRef>
          </c:tx>
          <c:spPr>
            <a:solidFill xmlns:a="http://schemas.openxmlformats.org/drawingml/2006/main">
              <a:srgbClr val="12695D"/>
            </a:solidFill>
            <a:ln xmlns:a="http://schemas.openxmlformats.org/drawingml/2006/main" w="12600">
              <a:noFill/>
            </a:ln>
          </c:spP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</c:dLbls>
          <c:cat>
            <c:strRef>
              <c:f>categories</c:f>
              <c:strCache>
                <c:ptCount val="4"/>
                <c:pt idx="0">
                  <c:v>阶段一</c:v>
                </c:pt>
                <c:pt idx="1">
                  <c:v>阶段二</c:v>
                </c:pt>
                <c:pt idx="2">
                  <c:v>阶段三</c:v>
                </c:pt>
                <c:pt idx="3">
                  <c:v>阶段四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50</c:v>
                </c:pt>
                <c:pt idx="1">
                  <c:v>28</c:v>
                </c:pt>
                <c:pt idx="2">
                  <c:v>42</c:v>
                </c:pt>
                <c:pt idx="3">
                  <c:v>36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增长业务</c:v>
                </c:pt>
              </c:strCache>
            </c:strRef>
          </c:tx>
          <c:spPr>
            <a:solidFill xmlns:a="http://schemas.openxmlformats.org/drawingml/2006/main">
              <a:srgbClr val="BD7227"/>
            </a:solidFill>
            <a:ln xmlns:a="http://schemas.openxmlformats.org/drawingml/2006/main" w="12600">
              <a:noFill/>
            </a:ln>
          </c:spP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</c:dLbls>
          <c:cat>
            <c:strRef>
              <c:f>categories</c:f>
              <c:strCache>
                <c:ptCount val="4"/>
                <c:pt idx="0">
                  <c:v>阶段一</c:v>
                </c:pt>
                <c:pt idx="1">
                  <c:v>阶段二</c:v>
                </c:pt>
                <c:pt idx="2">
                  <c:v>阶段三</c:v>
                </c:pt>
                <c:pt idx="3">
                  <c:v>阶段四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27</c:v>
                </c:pt>
                <c:pt idx="1">
                  <c:v>49</c:v>
                </c:pt>
                <c:pt idx="2">
                  <c:v>22</c:v>
                </c:pt>
                <c:pt idx="3">
                  <c:v>23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支撑业务</c:v>
                </c:pt>
              </c:strCache>
            </c:strRef>
          </c:tx>
          <c:spPr>
            <a:solidFill xmlns:a="http://schemas.openxmlformats.org/drawingml/2006/main">
              <a:srgbClr val="2B6288"/>
            </a:solidFill>
            <a:ln xmlns:a="http://schemas.openxmlformats.org/drawingml/2006/main" w="12600">
              <a:noFill/>
            </a:ln>
          </c:spP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</c:dLbls>
          <c:cat>
            <c:strRef>
              <c:f>categories</c:f>
              <c:strCache>
                <c:ptCount val="4"/>
                <c:pt idx="0">
                  <c:v>阶段一</c:v>
                </c:pt>
                <c:pt idx="1">
                  <c:v>阶段二</c:v>
                </c:pt>
                <c:pt idx="2">
                  <c:v>阶段三</c:v>
                </c:pt>
                <c:pt idx="3">
                  <c:v>阶段四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23</c:v>
                </c:pt>
                <c:pt idx="1">
                  <c:v>23</c:v>
                </c:pt>
                <c:pt idx="2">
                  <c:v>36</c:v>
                </c:pt>
                <c:pt idx="3">
                  <c:v>41</c:v>
                </c:pt>
              </c:numCache>
            </c:numRef>
          </c:val>
        </c:ser>
        <c:gapWidth val="150"/>
        <c:overlap val="100"/>
        <c:axId val="62707342"/>
        <c:axId val="15197091"/>
      </c:barChart>
      <c:catAx>
        <c:axId val="6270734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xmlns:a="http://schemas.openxmlformats.org/drawingml/2006/main" w="9360">
            <a:solidFill>
              <a:schemeClr val="dk1">
                <a:lumMod val="15000"/>
                <a:lumOff val="85000"/>
              </a:schemeClr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95" b="0" u="none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15197091"/>
        <c:crosses val="autoZero"/>
        <c:lblAlgn val="ctr"/>
        <c:lblOffset val="100"/>
        <c:noMultiLvlLbl val="0"/>
      </c:catAx>
      <c:valAx>
        <c:axId val="15197091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2EF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tickLblPos val="nextTo"/>
        <c:spPr>
          <a:ln xmlns:a="http://schemas.openxmlformats.org/drawingml/2006/main" w="648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95" b="0" u="none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62707342"/>
        <c:crosses val="autoZero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0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业务构成示例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 u="none">
              <a:solidFill>
                <a:srgbClr val="17201D"/>
              </a:solidFill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doughnutChart>
        <c:ser>
          <c:idx val="0"/>
          <c:order val="0"/>
          <c:tx>
            <c:strRef>
              <c:f>label 0</c:f>
              <c:strCache>
                <c:ptCount val="1"/>
                <c:pt idx="0">
                  <c:v>占比</c:v>
                </c:pt>
              </c:strCache>
            </c:strRef>
          </c:tx>
          <c:spPr>
            <a:ln xmlns:a="http://schemas.openxmlformats.org/drawingml/2006/main" w="28440">
              <a:solidFill>
                <a:schemeClr val="lt1"/>
              </a:solidFill>
            </a:ln>
          </c:spPr>
          <c:explosion val="0"/>
          <c:dPt>
            <c:idx val="0"/>
            <c:spPr>
              <a:solidFill xmlns:a="http://schemas.openxmlformats.org/drawingml/2006/main">
                <a:srgbClr val="12695D"/>
              </a:solidFill>
              <a:ln xmlns:a="http://schemas.openxmlformats.org/drawingml/2006/main" w="28440">
                <a:solidFill>
                  <a:schemeClr val="lt1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BD7227"/>
              </a:solidFill>
              <a:ln xmlns:a="http://schemas.openxmlformats.org/drawingml/2006/main" w="28440">
                <a:solidFill>
                  <a:schemeClr val="lt1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2B6288"/>
              </a:solidFill>
              <a:ln xmlns:a="http://schemas.openxmlformats.org/drawingml/2006/main" w="28440">
                <a:solidFill>
                  <a:schemeClr val="lt1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43B36D"/>
              </a:solidFill>
              <a:ln xmlns:a="http://schemas.openxmlformats.org/drawingml/2006/main" w="28440">
                <a:solidFill>
                  <a:schemeClr val="lt1"/>
                </a:solidFill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账户与支付</c:v>
                </c:pt>
                <c:pt idx="1">
                  <c:v>信贷产品</c:v>
                </c:pt>
                <c:pt idx="2">
                  <c:v>运营增长</c:v>
                </c:pt>
                <c:pt idx="3">
                  <c:v>技术支撑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95" b="0" u="none">
              <a:solidFill>
                <a:schemeClr val="tx2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0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201D"/>
                </a:solidFill>
              </a:rPr>
              <a:t>季度趋势示例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201D"/>
              </a:solidFill>
            </a:defRPr>
          </a:pPr>
        </a:p>
      </c:txPr>
    </c:title>
    <c:autoTitleDeleted val="1"/>
    <c:plotArea>
      <c:barChart>
        <c:barDir val="col"/>
        <c:grouping val="clustered"/>
        <c:varyColors val="0"/>
        <c:ser>
          <c:idx val="0"/>
          <c:order val="0"/>
          <c:tx>
            <c:v>目标</c:v>
          </c:tx>
          <c:spPr>
            <a:solidFill xmlns:a="http://schemas.openxmlformats.org/drawingml/2006/main">
              <a:srgbClr val="12695D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42</c:v>
              </c:pt>
              <c:pt idx="2">
                <c:v>58</c:v>
              </c:pt>
              <c:pt idx="3">
                <c:v>76</c:v>
              </c:pt>
            </c:numLit>
          </c:val>
        </c:ser>
        <c:axId val="26424610"/>
        <c:axId val="79796185"/>
      </c:barChart>
      <c:catAx>
        <c:axId val="264246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 b="0"/>
            </a:pPr>
          </a:p>
        </c:txPr>
        <c:crossAx val="79796185"/>
        <c:lblAlgn val="ctr"/>
        <c:lblOffset val="100"/>
        <c:noMultiLvlLbl val="0"/>
      </c:catAx>
      <c:valAx>
        <c:axId val="79796185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2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 b="0"/>
            </a:pPr>
          </a:p>
        </c:txPr>
        <c:crossAx val="26424610"/>
        <c:crossBetween val="midCat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Box 1">
            <a:extLst xmlns:a="http://schemas.openxmlformats.org/drawingml/2006/main">
              <a:ext uri="{FF2B5EF4-FFF2-40B4-BE49-F238E27FC236}">
                <a16:creationId xmlns:a16="http://schemas.microsoft.com/office/drawing/2014/main" id="{94C724F8-169D-4500-97F3-0922FBF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11200" y="-1502280"/>
            <a:ext cx="184320" cy="36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24e52c90846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6" name="Mint cover title">
            <a:extLst xmlns:a="http://schemas.openxmlformats.org/drawingml/2006/main">
              <a:ext uri="{FF2B5EF4-FFF2-40B4-BE49-F238E27FC236}">
                <a16:creationId xmlns:a16="http://schemas.microsoft.com/office/drawing/2014/main" id="{A8ADC51D-DCF4-4E3D-8041-53301DB6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37" y="2138744"/>
            <a:ext cx="8827961" cy="2161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2695D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Mint 汇报材料模板</a:t>
            </a:r>
          </a:p>
          <a:p xmlns:a="http://schemas.openxmlformats.org/drawingml/2006/main">
            <a:pPr algn="l">
              <a:defRPr sz="4500" b="1">
                <a:solidFill>
                  <a:srgbClr val="12695D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Mint Presentation Template</a:t>
            </a:r>
          </a:p>
        </p:txBody>
      </p:sp>
      <p:sp>
        <p:nvSpPr>
          <p:cNvPr id="37" name="Mint cover date">
            <a:extLst xmlns:a="http://schemas.openxmlformats.org/drawingml/2006/main">
              <a:ext uri="{FF2B5EF4-FFF2-40B4-BE49-F238E27FC236}">
                <a16:creationId xmlns:a16="http://schemas.microsoft.com/office/drawing/2014/main" id="{DFBD0948-A44C-473B-9F21-F54735FB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27" y="4401693"/>
            <a:ext cx="655310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D72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D7227"/>
                </a:solidFill>
                <a:latin typeface="微软雅黑"/>
                <a:ea typeface="微软雅黑"/>
                <a:cs typeface="微软雅黑"/>
              </a:rPr>
              <a:t>16:9｜2026.08.04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daf9be02439a"/>
          <a:stretch xmlns:a="http://schemas.openxmlformats.org/drawingml/2006/main"/>
        </p:blipFill>
        <p:spPr>
          <a:xfrm xmlns:a="http://schemas.openxmlformats.org/drawingml/2006/main">
            <a:off x="775635" y="677513"/>
            <a:ext cx="1001810" cy="3228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29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C2B901-28A3-4101-B0BA-797358DB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00" y="457200"/>
            <a:ext cx="11293560" cy="609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722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cxnSp>
        <p:nvCxnSpPr>
          <p:cNvPr id="53" name="Straight Connector 5"/>
          <p:cNvCxnSpPr/>
          <p:nvPr/>
        </p:nvCxnSpPr>
        <p:spPr>
          <a:xfrm xmlns:a="http://schemas.openxmlformats.org/drawingml/2006/main" rot="0" flipH="0" flipV="0">
            <a:off x="446040" y="1333440"/>
            <a:ext cx="1129968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D7227"/>
            </a:solidFill>
            <a:prstDash val="solid"/>
          </a:ln>
        </p:spPr>
      </p:cxnSp>
      <p:cxnSp>
        <p:nvCxnSpPr>
          <p:cNvPr id="54" name="Straight Connector 6"/>
          <p:cNvCxnSpPr/>
          <p:nvPr/>
        </p:nvCxnSpPr>
        <p:spPr>
          <a:xfrm xmlns:a="http://schemas.openxmlformats.org/drawingml/2006/main" rot="0" flipH="0" flipV="0">
            <a:off x="446040" y="1665720"/>
            <a:ext cx="1129968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D7227"/>
            </a:solidFill>
            <a:prstDash val="solid"/>
          </a:ln>
        </p:spPr>
      </p:cxnSp>
      <p:cxnSp>
        <p:nvCxnSpPr>
          <p:cNvPr id="55" name="Straight Connector 3"/>
          <p:cNvCxnSpPr/>
          <p:nvPr/>
        </p:nvCxnSpPr>
        <p:spPr>
          <a:xfrm xmlns:a="http://schemas.openxmlformats.org/drawingml/2006/main" rot="0" flipH="0" flipV="0">
            <a:off x="446040" y="6171840"/>
            <a:ext cx="1129968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D7227"/>
            </a:solidFill>
            <a:prstDash val="solid"/>
          </a:ln>
        </p:spPr>
      </p:cxnSp>
      <p:sp>
        <p:nvSpPr>
          <p:cNvPr id="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275B9B6-27DC-4D03-84BE-8004042A6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Mint 网格设计 Grid system</a:t>
            </a: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E78837F-C091-46A5-90CF-7D58C17CD18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46400" y="1333440"/>
            <a:ext cx="11288160" cy="463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00000"/>
              </a:lnSpc>
              <a:buNone/>
              <a:defRPr>
                <a:solidFill>
                  <a:srgbClr val="52615B"/>
                </a:solidFill>
              </a:defRPr>
            </a:pPr>
            <a:r>
              <a:rPr sz="1800" b="0" u="none">
                <a:solidFill>
                  <a:srgbClr val="52615B"/>
                </a:solidFill>
                <a:latin typeface="微软雅黑"/>
                <a:ea typeface="微软雅黑"/>
                <a:cs typeface="微软雅黑"/>
              </a:rPr>
              <a:t>内容区以 48 px 左边距、48 px 顶部标题栏和 140 px 正文起点为基准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defRPr>
                <a:solidFill>
                  <a:srgbClr val="52615B"/>
                </a:solidFill>
              </a:defRPr>
            </a:pPr>
            <a:r>
              <a:rPr sz="1800" b="0" u="none">
                <a:solidFill>
                  <a:srgbClr val="52615B"/>
                </a:solidFill>
                <a:latin typeface="微软雅黑"/>
                <a:ea typeface="微软雅黑"/>
                <a:cs typeface="微软雅黑"/>
              </a:rPr>
              <a:t>复制本页网格可快速对齐图片、图表与文字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defRPr>
                <a:solidFill>
                  <a:srgbClr val="52615B"/>
                </a:solidFill>
              </a:defRPr>
            </a:pPr>
            <a:r>
              <a:rPr sz="1800" b="0" u="none">
                <a:solidFill>
                  <a:srgbClr val="52615B"/>
                </a:solidFill>
                <a:latin typeface="微软雅黑"/>
                <a:ea typeface="微软雅黑"/>
                <a:cs typeface="微软雅黑"/>
              </a:rPr>
              <a:t>完成排版后删除辅助网格</a:t>
            </a:r>
          </a:p>
        </p:txBody>
      </p:sp>
      <p:sp>
        <p:nvSpPr>
          <p:cNvPr id="50" name="Mint page marker line 2">
            <a:extLst xmlns:a="http://schemas.openxmlformats.org/drawingml/2006/main">
              <a:ext uri="{FF2B5EF4-FFF2-40B4-BE49-F238E27FC236}">
                <a16:creationId xmlns:a16="http://schemas.microsoft.com/office/drawing/2014/main" id="{DE286CFF-0603-4F2C-B1BC-00EDC49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int page number 2">
            <a:extLst xmlns:a="http://schemas.openxmlformats.org/drawingml/2006/main">
              <a:ext uri="{FF2B5EF4-FFF2-40B4-BE49-F238E27FC236}">
                <a16:creationId xmlns:a16="http://schemas.microsoft.com/office/drawing/2014/main" id="{E5CF1EFF-269E-411F-A58C-FA573B59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9764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3AC3D0-22D1-4203-A9E0-A0FA69D72D36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46400" y="1338840"/>
            <a:ext cx="11288160" cy="463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3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2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01  业务背景与目标</a:t>
            </a:r>
          </a:p>
          <a:p xmlns:a="http://schemas.openxmlformats.org/drawingml/2006/main">
            <a:pPr indent="0" algn="l" defTabSz="914400">
              <a:lnSpc>
                <a:spcPct val="13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2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02  核心判断与方案</a:t>
            </a:r>
          </a:p>
          <a:p xmlns:a="http://schemas.openxmlformats.org/drawingml/2006/main">
            <a:pPr indent="0" algn="l" defTabSz="914400">
              <a:lnSpc>
                <a:spcPct val="13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2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03  产品与经营设计</a:t>
            </a:r>
          </a:p>
          <a:p xmlns:a="http://schemas.openxmlformats.org/drawingml/2006/main">
            <a:pPr indent="0" algn="l" defTabSz="914400">
              <a:lnSpc>
                <a:spcPct val="13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2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04  数据、风险与技术</a:t>
            </a:r>
          </a:p>
          <a:p xmlns:a="http://schemas.openxmlformats.org/drawingml/2006/main">
            <a:pPr indent="0" algn="l" defTabSz="914400">
              <a:lnSpc>
                <a:spcPct val="130000"/>
              </a:lnSpc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2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05  决策与下一步</a:t>
            </a:r>
          </a:p>
        </p:txBody>
      </p:sp>
      <p:sp>
        <p:nvSpPr>
          <p:cNvPr id="4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C420939-9D38-457F-953F-D46E517CA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目录 Agenda</a:t>
            </a:r>
          </a:p>
        </p:txBody>
      </p:sp>
      <p:sp>
        <p:nvSpPr>
          <p:cNvPr id="49" name="Mint page marker line 3">
            <a:extLst xmlns:a="http://schemas.openxmlformats.org/drawingml/2006/main">
              <a:ext uri="{FF2B5EF4-FFF2-40B4-BE49-F238E27FC236}">
                <a16:creationId xmlns:a16="http://schemas.microsoft.com/office/drawing/2014/main" id="{CF967243-B868-4519-8A83-7C9AF329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int page number 3">
            <a:extLst xmlns:a="http://schemas.openxmlformats.org/drawingml/2006/main">
              <a:ext uri="{FF2B5EF4-FFF2-40B4-BE49-F238E27FC236}">
                <a16:creationId xmlns:a16="http://schemas.microsoft.com/office/drawing/2014/main" id="{75402134-3DD3-4449-94BD-95315D0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545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4F3E70D-A572-4DE4-8FDC-4AB3E9FB01A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46400" y="1338840"/>
            <a:ext cx="11288160" cy="463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正文用于解释结论、给出证据与影响。</a:t>
            </a:r>
          </a:p>
          <a:p xmlns:a="http://schemas.openxmlformats.org/drawingml/2006/main">
            <a:pPr marL="4572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一级要点：优先保留决定性信息</a:t>
            </a:r>
          </a:p>
          <a:p xmlns:a="http://schemas.openxmlformats.org/drawingml/2006/main">
            <a:pPr marL="9144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二级要点：补充必要细节</a:t>
            </a:r>
          </a:p>
          <a:p xmlns:a="http://schemas.openxmlformats.org/drawingml/2006/main">
            <a:pPr marL="914400" indent="0" algn="l" defTabSz="914400">
              <a:lnSpc>
                <a:spcPct val="100000"/>
              </a:lnSpc>
              <a:buNone/>
            </a:pPr>
            <a:r>
              <a:t/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第二段用于承接新的证据或约束。</a:t>
            </a:r>
          </a:p>
          <a:p xmlns:a="http://schemas.openxmlformats.org/drawingml/2006/main">
            <a:pPr marL="4572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一级要点：用短句表达</a:t>
            </a:r>
          </a:p>
          <a:p xmlns:a="http://schemas.openxmlformats.org/drawingml/2006/main">
            <a:pPr marL="914400" indent="0" algn="l" defTabSz="914400">
              <a:lnSpc>
                <a:spcPct val="10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二级要点：避免大段文字</a:t>
            </a: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D69D8DB-1C06-4236-9F42-B95C1A667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一页只表达一个核心结论</a:t>
            </a:r>
          </a:p>
        </p:txBody>
      </p:sp>
      <p:sp>
        <p:nvSpPr>
          <p:cNvPr id="52" name="Mint page marker line 4">
            <a:extLst xmlns:a="http://schemas.openxmlformats.org/drawingml/2006/main">
              <a:ext uri="{FF2B5EF4-FFF2-40B4-BE49-F238E27FC236}">
                <a16:creationId xmlns:a16="http://schemas.microsoft.com/office/drawing/2014/main" id="{AC145AED-EC45-4126-8F2A-50733CF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int page number 4">
            <a:extLst xmlns:a="http://schemas.openxmlformats.org/drawingml/2006/main">
              <a:ext uri="{FF2B5EF4-FFF2-40B4-BE49-F238E27FC236}">
                <a16:creationId xmlns:a16="http://schemas.microsoft.com/office/drawing/2014/main" id="{CD964864-1472-4911-AFBF-85E43341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8905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5D3DDBF-63AC-4381-93D9-4CA7DBE3424F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57200" y="1638360"/>
            <a:ext cx="11277360" cy="453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正文段落：先给结论，再给依据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一级要点：每条不超过一行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二级要点：只保留必要说明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499"/>
              </a:spcBef>
              <a:buNone/>
            </a:pPr>
            <a:r>
              <a:t/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第二组内容：用于并列或递进关系</a:t>
            </a:r>
          </a:p>
          <a:p xmlns:a="http://schemas.openxmlformats.org/drawingml/2006/main"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一级要点：保持同一语法结构</a:t>
            </a:r>
          </a:p>
          <a:p xmlns:a="http://schemas.openxmlformats.org/drawingml/2006/main"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D80C18"/>
              </a:buClr>
              <a:buFont typeface="Arial"/>
              <a:buChar char="•"/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二级要点：避免重复结论</a:t>
            </a:r>
          </a:p>
        </p:txBody>
      </p:sp>
      <p:sp>
        <p:nvSpPr>
          <p:cNvPr id="5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1DDABCC-DCE7-4C12-9EFD-5B64B7DDF1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119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两行标题示例</a:t>
            </a:r>
          </a:p>
          <a:p xmlns:a="http://schemas.openxmlformats.org/drawingml/2006/main"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第二行用于补充明确范围</a:t>
            </a:r>
          </a:p>
        </p:txBody>
      </p:sp>
      <p:sp>
        <p:nvSpPr>
          <p:cNvPr id="55" name="Mint page marker line 5">
            <a:extLst xmlns:a="http://schemas.openxmlformats.org/drawingml/2006/main">
              <a:ext uri="{FF2B5EF4-FFF2-40B4-BE49-F238E27FC236}">
                <a16:creationId xmlns:a16="http://schemas.microsoft.com/office/drawing/2014/main" id="{DDF43D52-F527-43D2-8C33-EB3BE904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int page number 5">
            <a:extLst xmlns:a="http://schemas.openxmlformats.org/drawingml/2006/main">
              <a:ext uri="{FF2B5EF4-FFF2-40B4-BE49-F238E27FC236}">
                <a16:creationId xmlns:a16="http://schemas.microsoft.com/office/drawing/2014/main" id="{29EEE48B-0017-401C-9392-CC8E956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46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4508FC-8598-4F9A-971F-17F289C43C5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46400" y="1338840"/>
            <a:ext cx="11288160" cy="463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2615B"/>
                </a:solidFill>
              </a:defRPr>
            </a:pPr>
            <a:r>
              <a:rPr sz="1800" b="0" u="none">
                <a:solidFill>
                  <a:srgbClr val="52615B"/>
                </a:solidFill>
                <a:latin typeface="微软雅黑"/>
                <a:ea typeface="微软雅黑"/>
                <a:cs typeface="微软雅黑"/>
              </a:rPr>
              <a:t>先用一句话交代比较口径，再用四个短模块呈现差异；图标与标题只承担导航作用。</a:t>
            </a: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6560646-A014-4ECA-8473-572C73676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四项能力用同一结构快速比较</a:t>
            </a:r>
          </a:p>
        </p:txBody>
      </p:sp>
      <p:sp>
        <p:nvSpPr>
          <p:cNvPr id="59" name="Freeform 119">
            <a:extLst xmlns:a="http://schemas.openxmlformats.org/drawingml/2006/main">
              <a:ext uri="{FF2B5EF4-FFF2-40B4-BE49-F238E27FC236}">
                <a16:creationId xmlns:a16="http://schemas.microsoft.com/office/drawing/2014/main" id="{044BB768-267B-4DC5-AAC3-19F322EC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19720" y="2525400"/>
            <a:ext cx="592560" cy="513360"/>
          </a:xfrm>
          <a:custGeom xmlns:a="http://schemas.openxmlformats.org/drawingml/2006/main">
            <a:gdLst>
              <a:gd name="textAreaLeft" fmla="*/ 0 w 592560"/>
              <a:gd name="textAreaRight" fmla="*/ 592920 w 592560"/>
              <a:gd name="textAreaTop" fmla="*/ 0 h 513360"/>
              <a:gd name="textAreaBottom" fmla="*/ 513720 h 513360"/>
              <a:gd name="GluePoint1X" fmla="*/ 116 w 120"/>
              <a:gd name="GluePoint1Y" fmla="*/ 104 h 104"/>
              <a:gd name="GluePoint2X" fmla="*/ 28 w 120"/>
              <a:gd name="GluePoint2Y" fmla="*/ 104 h 104"/>
              <a:gd name="GluePoint3X" fmla="*/ 25 w 120"/>
              <a:gd name="GluePoint3Y" fmla="*/ 102 h 104"/>
              <a:gd name="GluePoint4X" fmla="*/ 24 w 120"/>
              <a:gd name="GluePoint4Y" fmla="*/ 99 h 104"/>
              <a:gd name="GluePoint5X" fmla="*/ 32 w 120"/>
              <a:gd name="GluePoint5Y" fmla="*/ 79 h 104"/>
              <a:gd name="GluePoint6X" fmla="*/ 24 w 120"/>
              <a:gd name="GluePoint6Y" fmla="*/ 8 h 104"/>
              <a:gd name="GluePoint7X" fmla="*/ 0 w 120"/>
              <a:gd name="GluePoint7Y" fmla="*/ 8 h 104"/>
              <a:gd name="GluePoint8X" fmla="*/ 0 w 120"/>
              <a:gd name="GluePoint8Y" fmla="*/ 0 h 104"/>
              <a:gd name="GluePoint9X" fmla="*/ 28 w 120"/>
              <a:gd name="GluePoint9Y" fmla="*/ 0 h 104"/>
              <a:gd name="GluePoint10X" fmla="*/ 32 w 120"/>
              <a:gd name="GluePoint10Y" fmla="*/ 4 h 104"/>
              <a:gd name="GluePoint11X" fmla="*/ 40 w 120"/>
              <a:gd name="GluePoint11Y" fmla="*/ 80 h 104"/>
              <a:gd name="GluePoint12X" fmla="*/ 40 w 120"/>
              <a:gd name="GluePoint12Y" fmla="*/ 81 h 104"/>
              <a:gd name="GluePoint13X" fmla="*/ 34 w 120"/>
              <a:gd name="GluePoint13Y" fmla="*/ 96 h 104"/>
              <a:gd name="GluePoint14X" fmla="*/ 120 w 120"/>
              <a:gd name="GluePoint14Y" fmla="*/ 96 h 104"/>
              <a:gd name="GluePoint15X" fmla="*/ 116 w 120"/>
              <a:gd name="GluePoint15Y" fmla="*/ 104 h 104"/>
            </a:gdLst>
            <a:rect l="textAreaLeft" t="textAreaTop" r="textAreaRight" b="textAreaBottom"/>
            <a:pathLst>
              <a:path w="120" h="104">
                <a:moveTo>
                  <a:pt x="116" y="104"/>
                </a:moveTo>
                <a:cubicBezTo>
                  <a:pt x="28" y="104"/>
                  <a:pt x="28" y="104"/>
                  <a:pt x="28" y="104"/>
                </a:cubicBezTo>
                <a:cubicBezTo>
                  <a:pt x="27" y="104"/>
                  <a:pt x="25" y="103"/>
                  <a:pt x="25" y="102"/>
                </a:cubicBezTo>
                <a:cubicBezTo>
                  <a:pt x="24" y="101"/>
                  <a:pt x="24" y="100"/>
                  <a:pt x="24" y="99"/>
                </a:cubicBezTo>
                <a:cubicBezTo>
                  <a:pt x="32" y="79"/>
                  <a:pt x="32" y="79"/>
                  <a:pt x="32" y="79"/>
                </a:cubicBezTo>
                <a:cubicBezTo>
                  <a:pt x="24" y="8"/>
                  <a:pt x="24" y="8"/>
                  <a:pt x="24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0"/>
                  <a:pt x="0" y="0"/>
                  <a:pt x="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0" y="0"/>
                  <a:pt x="32" y="2"/>
                  <a:pt x="32" y="4"/>
                </a:cubicBezTo>
                <a:cubicBezTo>
                  <a:pt x="40" y="80"/>
                  <a:pt x="40" y="80"/>
                  <a:pt x="40" y="80"/>
                </a:cubicBezTo>
                <a:cubicBezTo>
                  <a:pt x="40" y="80"/>
                  <a:pt x="40" y="81"/>
                  <a:pt x="40" y="81"/>
                </a:cubicBezTo>
                <a:cubicBezTo>
                  <a:pt x="34" y="96"/>
                  <a:pt x="34" y="96"/>
                  <a:pt x="34" y="96"/>
                </a:cubicBezTo>
                <a:cubicBezTo>
                  <a:pt x="120" y="96"/>
                  <a:pt x="120" y="96"/>
                  <a:pt x="120" y="96"/>
                </a:cubicBezTo>
                <a:lnTo>
                  <a:pt x="116" y="104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91135358-8E4F-446A-BF37-89E9D578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78480" y="2604600"/>
            <a:ext cx="513360" cy="335880"/>
          </a:xfrm>
          <a:custGeom xmlns:a="http://schemas.openxmlformats.org/drawingml/2006/main">
            <a:gdLst>
              <a:gd name="textAreaLeft" fmla="*/ 0 w 513360"/>
              <a:gd name="textAreaRight" fmla="*/ 513720 w 513360"/>
              <a:gd name="textAreaTop" fmla="*/ 0 h 335880"/>
              <a:gd name="textAreaBottom" fmla="*/ 336240 h 335880"/>
              <a:gd name="GluePoint1X" fmla="*/ 5 w 104"/>
              <a:gd name="GluePoint1Y" fmla="*/ 68 h 68"/>
              <a:gd name="GluePoint2X" fmla="*/ 3 w 104"/>
              <a:gd name="GluePoint2Y" fmla="*/ 60 h 68"/>
              <a:gd name="GluePoint3X" fmla="*/ 96 w 104"/>
              <a:gd name="GluePoint3Y" fmla="*/ 41 h 68"/>
              <a:gd name="GluePoint4X" fmla="*/ 96 w 104"/>
              <a:gd name="GluePoint4Y" fmla="*/ 8 h 68"/>
              <a:gd name="GluePoint5X" fmla="*/ 0 w 104"/>
              <a:gd name="GluePoint5Y" fmla="*/ 8 h 68"/>
              <a:gd name="GluePoint6X" fmla="*/ 0 w 104"/>
              <a:gd name="GluePoint6Y" fmla="*/ 0 h 68"/>
              <a:gd name="GluePoint7X" fmla="*/ 100 w 104"/>
              <a:gd name="GluePoint7Y" fmla="*/ 0 h 68"/>
              <a:gd name="GluePoint8X" fmla="*/ 104 w 104"/>
              <a:gd name="GluePoint8Y" fmla="*/ 4 h 68"/>
              <a:gd name="GluePoint9X" fmla="*/ 104 w 104"/>
              <a:gd name="GluePoint9Y" fmla="*/ 44 h 68"/>
              <a:gd name="GluePoint10X" fmla="*/ 101 w 104"/>
              <a:gd name="GluePoint10Y" fmla="*/ 48 h 68"/>
              <a:gd name="GluePoint11X" fmla="*/ 5 w 104"/>
              <a:gd name="GluePoint11Y" fmla="*/ 68 h 68"/>
            </a:gdLst>
            <a:rect l="textAreaLeft" t="textAreaTop" r="textAreaRight" b="textAreaBottom"/>
            <a:pathLst>
              <a:path w="104" h="68">
                <a:moveTo>
                  <a:pt x="5" y="68"/>
                </a:moveTo>
                <a:cubicBezTo>
                  <a:pt x="3" y="60"/>
                  <a:pt x="3" y="60"/>
                  <a:pt x="3" y="60"/>
                </a:cubicBezTo>
                <a:cubicBezTo>
                  <a:pt x="96" y="41"/>
                  <a:pt x="96" y="41"/>
                  <a:pt x="96" y="41"/>
                </a:cubicBezTo>
                <a:cubicBezTo>
                  <a:pt x="96" y="8"/>
                  <a:pt x="96" y="8"/>
                  <a:pt x="96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0"/>
                  <a:pt x="0" y="0"/>
                  <a:pt x="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2" y="0"/>
                  <a:pt x="104" y="2"/>
                  <a:pt x="104" y="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46"/>
                  <a:pt x="103" y="48"/>
                  <a:pt x="101" y="48"/>
                </a:cubicBezTo>
                <a:lnTo>
                  <a:pt x="5" y="68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93F38569-8498-444D-B482-D03E4FFC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33080" y="2999160"/>
            <a:ext cx="158400" cy="158400"/>
          </a:xfrm>
          <a:custGeom xmlns:a="http://schemas.openxmlformats.org/drawingml/2006/main">
            <a:gdLst>
              <a:gd name="textAreaLeft" fmla="*/ 0 w 158400"/>
              <a:gd name="textAreaRight" fmla="*/ 158760 w 158400"/>
              <a:gd name="textAreaTop" fmla="*/ 0 h 158400"/>
              <a:gd name="textAreaBottom" fmla="*/ 158760 h 158400"/>
              <a:gd name="GluePoint1X" fmla="*/ 16 w 32"/>
              <a:gd name="GluePoint1Y" fmla="*/ 32 h 32"/>
              <a:gd name="GluePoint2X" fmla="*/ 0 w 32"/>
              <a:gd name="GluePoint2Y" fmla="*/ 16 h 32"/>
              <a:gd name="GluePoint3X" fmla="*/ 16 w 32"/>
              <a:gd name="GluePoint3Y" fmla="*/ 0 h 32"/>
              <a:gd name="GluePoint4X" fmla="*/ 32 w 32"/>
              <a:gd name="GluePoint4Y" fmla="*/ 16 h 32"/>
              <a:gd name="GluePoint5X" fmla="*/ 16 w 32"/>
              <a:gd name="GluePoint5Y" fmla="*/ 32 h 32"/>
              <a:gd name="GluePoint6X" fmla="*/ 16 w 32"/>
              <a:gd name="GluePoint6Y" fmla="*/ 8 h 32"/>
              <a:gd name="GluePoint7X" fmla="*/ 8 w 32"/>
              <a:gd name="GluePoint7Y" fmla="*/ 16 h 32"/>
              <a:gd name="GluePoint8X" fmla="*/ 16 w 32"/>
              <a:gd name="GluePoint8Y" fmla="*/ 24 h 32"/>
              <a:gd name="GluePoint9X" fmla="*/ 24 w 32"/>
              <a:gd name="GluePoint9Y" fmla="*/ 16 h 32"/>
              <a:gd name="GluePoint10X" fmla="*/ 16 w 32"/>
              <a:gd name="GluePoint10Y" fmla="*/ 8 h 32"/>
            </a:gdLst>
            <a:rect l="textAreaLeft" t="textAreaTop" r="textAreaRight" b="textAreaBottom"/>
            <a:pathLst>
              <a:path w="32" h="32">
                <a:moveTo>
                  <a:pt x="16" y="32"/>
                </a:moveTo>
                <a:cubicBezTo>
                  <a:pt x="7" y="32"/>
                  <a:pt x="0" y="25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5" y="0"/>
                  <a:pt x="32" y="7"/>
                  <a:pt x="32" y="16"/>
                </a:cubicBezTo>
                <a:cubicBezTo>
                  <a:pt x="32" y="25"/>
                  <a:pt x="25" y="32"/>
                  <a:pt x="16" y="32"/>
                </a:cubicBezTo>
                <a:close/>
                <a:moveTo>
                  <a:pt x="16" y="8"/>
                </a:moveTo>
                <a:cubicBezTo>
                  <a:pt x="12" y="8"/>
                  <a:pt x="8" y="12"/>
                  <a:pt x="8" y="16"/>
                </a:cubicBezTo>
                <a:cubicBezTo>
                  <a:pt x="8" y="20"/>
                  <a:pt x="12" y="24"/>
                  <a:pt x="16" y="24"/>
                </a:cubicBezTo>
                <a:cubicBezTo>
                  <a:pt x="20" y="24"/>
                  <a:pt x="24" y="20"/>
                  <a:pt x="24" y="16"/>
                </a:cubicBezTo>
                <a:cubicBezTo>
                  <a:pt x="24" y="12"/>
                  <a:pt x="20" y="8"/>
                  <a:pt x="16" y="8"/>
                </a:cubicBez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0120" rIns="601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61566428-D399-463D-ABE8-F18590D5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9320" y="2999160"/>
            <a:ext cx="158400" cy="158400"/>
          </a:xfrm>
          <a:custGeom xmlns:a="http://schemas.openxmlformats.org/drawingml/2006/main">
            <a:gdLst>
              <a:gd name="textAreaLeft" fmla="*/ 0 w 158400"/>
              <a:gd name="textAreaRight" fmla="*/ 158760 w 158400"/>
              <a:gd name="textAreaTop" fmla="*/ 0 h 158400"/>
              <a:gd name="textAreaBottom" fmla="*/ 158760 h 158400"/>
              <a:gd name="GluePoint1X" fmla="*/ 16 w 32"/>
              <a:gd name="GluePoint1Y" fmla="*/ 32 h 32"/>
              <a:gd name="GluePoint2X" fmla="*/ 0 w 32"/>
              <a:gd name="GluePoint2Y" fmla="*/ 16 h 32"/>
              <a:gd name="GluePoint3X" fmla="*/ 16 w 32"/>
              <a:gd name="GluePoint3Y" fmla="*/ 0 h 32"/>
              <a:gd name="GluePoint4X" fmla="*/ 32 w 32"/>
              <a:gd name="GluePoint4Y" fmla="*/ 16 h 32"/>
              <a:gd name="GluePoint5X" fmla="*/ 16 w 32"/>
              <a:gd name="GluePoint5Y" fmla="*/ 32 h 32"/>
              <a:gd name="GluePoint6X" fmla="*/ 16 w 32"/>
              <a:gd name="GluePoint6Y" fmla="*/ 8 h 32"/>
              <a:gd name="GluePoint7X" fmla="*/ 8 w 32"/>
              <a:gd name="GluePoint7Y" fmla="*/ 16 h 32"/>
              <a:gd name="GluePoint8X" fmla="*/ 16 w 32"/>
              <a:gd name="GluePoint8Y" fmla="*/ 24 h 32"/>
              <a:gd name="GluePoint9X" fmla="*/ 24 w 32"/>
              <a:gd name="GluePoint9Y" fmla="*/ 16 h 32"/>
              <a:gd name="GluePoint10X" fmla="*/ 16 w 32"/>
              <a:gd name="GluePoint10Y" fmla="*/ 8 h 32"/>
            </a:gdLst>
            <a:rect l="textAreaLeft" t="textAreaTop" r="textAreaRight" b="textAreaBottom"/>
            <a:pathLst>
              <a:path w="32" h="32">
                <a:moveTo>
                  <a:pt x="16" y="32"/>
                </a:moveTo>
                <a:cubicBezTo>
                  <a:pt x="7" y="32"/>
                  <a:pt x="0" y="25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25" y="0"/>
                  <a:pt x="32" y="7"/>
                  <a:pt x="32" y="16"/>
                </a:cubicBezTo>
                <a:cubicBezTo>
                  <a:pt x="32" y="25"/>
                  <a:pt x="25" y="32"/>
                  <a:pt x="16" y="32"/>
                </a:cubicBezTo>
                <a:close/>
                <a:moveTo>
                  <a:pt x="16" y="8"/>
                </a:moveTo>
                <a:cubicBezTo>
                  <a:pt x="12" y="8"/>
                  <a:pt x="8" y="12"/>
                  <a:pt x="8" y="16"/>
                </a:cubicBezTo>
                <a:cubicBezTo>
                  <a:pt x="8" y="20"/>
                  <a:pt x="12" y="24"/>
                  <a:pt x="16" y="24"/>
                </a:cubicBezTo>
                <a:cubicBezTo>
                  <a:pt x="20" y="24"/>
                  <a:pt x="24" y="20"/>
                  <a:pt x="24" y="16"/>
                </a:cubicBezTo>
                <a:cubicBezTo>
                  <a:pt x="24" y="12"/>
                  <a:pt x="20" y="8"/>
                  <a:pt x="16" y="8"/>
                </a:cubicBez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0120" rIns="601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EB0A22B-6E5B-4396-8155-8998CA10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760" y="2545200"/>
            <a:ext cx="592560" cy="592560"/>
          </a:xfrm>
          <a:custGeom xmlns:a="http://schemas.openxmlformats.org/drawingml/2006/main">
            <a:gdLst>
              <a:gd name="textAreaLeft" fmla="*/ 0 w 592560"/>
              <a:gd name="textAreaRight" fmla="*/ 592920 w 592560"/>
              <a:gd name="textAreaTop" fmla="*/ 0 h 592560"/>
              <a:gd name="textAreaBottom" fmla="*/ 592920 h 592560"/>
              <a:gd name="GluePoint1X" fmla="*/ 300038 w 450850"/>
              <a:gd name="GluePoint1Y" fmla="*/ 360363 h 450851"/>
              <a:gd name="GluePoint2X" fmla="*/ 330200 w 450850"/>
              <a:gd name="GluePoint2Y" fmla="*/ 360363 h 450851"/>
              <a:gd name="GluePoint3X" fmla="*/ 330200 w 450850"/>
              <a:gd name="GluePoint3Y" fmla="*/ 390526 h 450851"/>
              <a:gd name="GluePoint4X" fmla="*/ 300038 w 450850"/>
              <a:gd name="GluePoint4Y" fmla="*/ 390526 h 450851"/>
              <a:gd name="GluePoint5X" fmla="*/ 239713 w 450850"/>
              <a:gd name="GluePoint5Y" fmla="*/ 360363 h 450851"/>
              <a:gd name="GluePoint6X" fmla="*/ 269875 w 450850"/>
              <a:gd name="GluePoint6Y" fmla="*/ 360363 h 450851"/>
              <a:gd name="GluePoint7X" fmla="*/ 269875 w 450850"/>
              <a:gd name="GluePoint7Y" fmla="*/ 390526 h 450851"/>
              <a:gd name="GluePoint8X" fmla="*/ 239713 w 450850"/>
              <a:gd name="GluePoint8Y" fmla="*/ 390526 h 450851"/>
              <a:gd name="GluePoint9X" fmla="*/ 179388 w 450850"/>
              <a:gd name="GluePoint9Y" fmla="*/ 360363 h 450851"/>
              <a:gd name="GluePoint10X" fmla="*/ 209550 w 450850"/>
              <a:gd name="GluePoint10Y" fmla="*/ 360363 h 450851"/>
              <a:gd name="GluePoint11X" fmla="*/ 209550 w 450850"/>
              <a:gd name="GluePoint11Y" fmla="*/ 390526 h 450851"/>
              <a:gd name="GluePoint12X" fmla="*/ 179388 w 450850"/>
              <a:gd name="GluePoint12Y" fmla="*/ 390526 h 450851"/>
              <a:gd name="GluePoint13X" fmla="*/ 119063 w 450850"/>
              <a:gd name="GluePoint13Y" fmla="*/ 360363 h 450851"/>
              <a:gd name="GluePoint14X" fmla="*/ 149225 w 450850"/>
              <a:gd name="GluePoint14Y" fmla="*/ 360363 h 450851"/>
              <a:gd name="GluePoint15X" fmla="*/ 149225 w 450850"/>
              <a:gd name="GluePoint15Y" fmla="*/ 390526 h 450851"/>
              <a:gd name="GluePoint16X" fmla="*/ 119063 w 450850"/>
              <a:gd name="GluePoint16Y" fmla="*/ 390526 h 450851"/>
              <a:gd name="GluePoint17X" fmla="*/ 58738 w 450850"/>
              <a:gd name="GluePoint17Y" fmla="*/ 360363 h 450851"/>
              <a:gd name="GluePoint18X" fmla="*/ 88900 w 450850"/>
              <a:gd name="GluePoint18Y" fmla="*/ 360363 h 450851"/>
              <a:gd name="GluePoint19X" fmla="*/ 88900 w 450850"/>
              <a:gd name="GluePoint19Y" fmla="*/ 390526 h 450851"/>
              <a:gd name="GluePoint20X" fmla="*/ 58738 w 450850"/>
              <a:gd name="GluePoint20Y" fmla="*/ 390526 h 450851"/>
              <a:gd name="GluePoint21X" fmla="*/ 360363 w 450850"/>
              <a:gd name="GluePoint21Y" fmla="*/ 301625 h 450851"/>
              <a:gd name="GluePoint22X" fmla="*/ 390525 w 450850"/>
              <a:gd name="GluePoint22Y" fmla="*/ 301625 h 450851"/>
              <a:gd name="GluePoint23X" fmla="*/ 390525 w 450850"/>
              <a:gd name="GluePoint23Y" fmla="*/ 330200 h 450851"/>
              <a:gd name="GluePoint24X" fmla="*/ 360363 w 450850"/>
              <a:gd name="GluePoint24Y" fmla="*/ 330200 h 450851"/>
              <a:gd name="GluePoint25X" fmla="*/ 300038 w 450850"/>
              <a:gd name="GluePoint25Y" fmla="*/ 301625 h 450851"/>
              <a:gd name="GluePoint26X" fmla="*/ 330200 w 450850"/>
              <a:gd name="GluePoint26Y" fmla="*/ 301625 h 450851"/>
              <a:gd name="GluePoint27X" fmla="*/ 330200 w 450850"/>
              <a:gd name="GluePoint27Y" fmla="*/ 330200 h 450851"/>
              <a:gd name="GluePoint28X" fmla="*/ 300038 w 450850"/>
              <a:gd name="GluePoint28Y" fmla="*/ 330200 h 450851"/>
              <a:gd name="GluePoint29X" fmla="*/ 239713 w 450850"/>
              <a:gd name="GluePoint29Y" fmla="*/ 301625 h 450851"/>
              <a:gd name="GluePoint30X" fmla="*/ 269875 w 450850"/>
              <a:gd name="GluePoint30Y" fmla="*/ 301625 h 450851"/>
              <a:gd name="GluePoint31X" fmla="*/ 269875 w 450850"/>
              <a:gd name="GluePoint31Y" fmla="*/ 330200 h 450851"/>
              <a:gd name="GluePoint32X" fmla="*/ 239713 w 450850"/>
              <a:gd name="GluePoint32Y" fmla="*/ 330200 h 450851"/>
              <a:gd name="GluePoint33X" fmla="*/ 179388 w 450850"/>
              <a:gd name="GluePoint33Y" fmla="*/ 301625 h 450851"/>
              <a:gd name="GluePoint34X" fmla="*/ 209550 w 450850"/>
              <a:gd name="GluePoint34Y" fmla="*/ 301625 h 450851"/>
              <a:gd name="GluePoint35X" fmla="*/ 209550 w 450850"/>
              <a:gd name="GluePoint35Y" fmla="*/ 330200 h 450851"/>
              <a:gd name="GluePoint36X" fmla="*/ 179388 w 450850"/>
              <a:gd name="GluePoint36Y" fmla="*/ 330200 h 450851"/>
              <a:gd name="GluePoint37X" fmla="*/ 119063 w 450850"/>
              <a:gd name="GluePoint37Y" fmla="*/ 301625 h 450851"/>
              <a:gd name="GluePoint38X" fmla="*/ 149225 w 450850"/>
              <a:gd name="GluePoint38Y" fmla="*/ 301625 h 450851"/>
              <a:gd name="GluePoint39X" fmla="*/ 149225 w 450850"/>
              <a:gd name="GluePoint39Y" fmla="*/ 330200 h 450851"/>
              <a:gd name="GluePoint40X" fmla="*/ 119063 w 450850"/>
              <a:gd name="GluePoint40Y" fmla="*/ 330200 h 450851"/>
              <a:gd name="GluePoint41X" fmla="*/ 58738 w 450850"/>
              <a:gd name="GluePoint41Y" fmla="*/ 301625 h 450851"/>
              <a:gd name="GluePoint42X" fmla="*/ 88900 w 450850"/>
              <a:gd name="GluePoint42Y" fmla="*/ 301625 h 450851"/>
              <a:gd name="GluePoint43X" fmla="*/ 88900 w 450850"/>
              <a:gd name="GluePoint43Y" fmla="*/ 330200 h 450851"/>
              <a:gd name="GluePoint44X" fmla="*/ 58738 w 450850"/>
              <a:gd name="GluePoint44Y" fmla="*/ 330200 h 450851"/>
              <a:gd name="GluePoint45X" fmla="*/ 360363 w 450850"/>
              <a:gd name="GluePoint45Y" fmla="*/ 241300 h 450851"/>
              <a:gd name="GluePoint46X" fmla="*/ 390525 w 450850"/>
              <a:gd name="GluePoint46Y" fmla="*/ 241300 h 450851"/>
              <a:gd name="GluePoint47X" fmla="*/ 390525 w 450850"/>
              <a:gd name="GluePoint47Y" fmla="*/ 271463 h 450851"/>
              <a:gd name="GluePoint48X" fmla="*/ 360363 w 450850"/>
              <a:gd name="GluePoint48Y" fmla="*/ 271463 h 450851"/>
              <a:gd name="GluePoint49X" fmla="*/ 300038 w 450850"/>
              <a:gd name="GluePoint49Y" fmla="*/ 241300 h 450851"/>
              <a:gd name="GluePoint50X" fmla="*/ 330200 w 450850"/>
              <a:gd name="GluePoint50Y" fmla="*/ 241300 h 450851"/>
              <a:gd name="GluePoint51X" fmla="*/ 330200 w 450850"/>
              <a:gd name="GluePoint51Y" fmla="*/ 271463 h 450851"/>
              <a:gd name="GluePoint52X" fmla="*/ 300038 w 450850"/>
              <a:gd name="GluePoint52Y" fmla="*/ 271463 h 450851"/>
              <a:gd name="GluePoint53X" fmla="*/ 239713 w 450850"/>
              <a:gd name="GluePoint53Y" fmla="*/ 241300 h 450851"/>
              <a:gd name="GluePoint54X" fmla="*/ 269875 w 450850"/>
              <a:gd name="GluePoint54Y" fmla="*/ 241300 h 450851"/>
              <a:gd name="GluePoint55X" fmla="*/ 269875 w 450850"/>
              <a:gd name="GluePoint55Y" fmla="*/ 271463 h 450851"/>
              <a:gd name="GluePoint56X" fmla="*/ 239713 w 450850"/>
              <a:gd name="GluePoint56Y" fmla="*/ 271463 h 450851"/>
              <a:gd name="GluePoint57X" fmla="*/ 179388 w 450850"/>
              <a:gd name="GluePoint57Y" fmla="*/ 241300 h 450851"/>
              <a:gd name="GluePoint58X" fmla="*/ 209550 w 450850"/>
              <a:gd name="GluePoint58Y" fmla="*/ 241300 h 450851"/>
              <a:gd name="GluePoint59X" fmla="*/ 209550 w 450850"/>
              <a:gd name="GluePoint59Y" fmla="*/ 271463 h 450851"/>
              <a:gd name="GluePoint60X" fmla="*/ 179388 w 450850"/>
              <a:gd name="GluePoint60Y" fmla="*/ 271463 h 450851"/>
              <a:gd name="GluePoint61X" fmla="*/ 119063 w 450850"/>
              <a:gd name="GluePoint61Y" fmla="*/ 241300 h 450851"/>
              <a:gd name="GluePoint62X" fmla="*/ 149225 w 450850"/>
              <a:gd name="GluePoint62Y" fmla="*/ 241300 h 450851"/>
              <a:gd name="GluePoint63X" fmla="*/ 149225 w 450850"/>
              <a:gd name="GluePoint63Y" fmla="*/ 271463 h 450851"/>
              <a:gd name="GluePoint64X" fmla="*/ 119063 w 450850"/>
              <a:gd name="GluePoint64Y" fmla="*/ 271463 h 450851"/>
              <a:gd name="GluePoint65X" fmla="*/ 58738 w 450850"/>
              <a:gd name="GluePoint65Y" fmla="*/ 241300 h 450851"/>
              <a:gd name="GluePoint66X" fmla="*/ 88900 w 450850"/>
              <a:gd name="GluePoint66Y" fmla="*/ 241300 h 450851"/>
              <a:gd name="GluePoint67X" fmla="*/ 88900 w 450850"/>
              <a:gd name="GluePoint67Y" fmla="*/ 271463 h 450851"/>
              <a:gd name="GluePoint68X" fmla="*/ 58738 w 450850"/>
              <a:gd name="GluePoint68Y" fmla="*/ 271463 h 450851"/>
              <a:gd name="GluePoint69X" fmla="*/ 360363 w 450850"/>
              <a:gd name="GluePoint69Y" fmla="*/ 180975 h 450851"/>
              <a:gd name="GluePoint70X" fmla="*/ 390525 w 450850"/>
              <a:gd name="GluePoint70Y" fmla="*/ 180975 h 450851"/>
              <a:gd name="GluePoint71X" fmla="*/ 390525 w 450850"/>
              <a:gd name="GluePoint71Y" fmla="*/ 211138 h 450851"/>
              <a:gd name="GluePoint72X" fmla="*/ 360363 w 450850"/>
              <a:gd name="GluePoint72Y" fmla="*/ 211138 h 450851"/>
              <a:gd name="GluePoint73X" fmla="*/ 300038 w 450850"/>
              <a:gd name="GluePoint73Y" fmla="*/ 180975 h 450851"/>
              <a:gd name="GluePoint74X" fmla="*/ 330200 w 450850"/>
              <a:gd name="GluePoint74Y" fmla="*/ 180975 h 450851"/>
              <a:gd name="GluePoint75X" fmla="*/ 330200 w 450850"/>
              <a:gd name="GluePoint75Y" fmla="*/ 211138 h 450851"/>
              <a:gd name="GluePoint76X" fmla="*/ 300038 w 450850"/>
              <a:gd name="GluePoint76Y" fmla="*/ 211138 h 450851"/>
              <a:gd name="GluePoint77X" fmla="*/ 239713 w 450850"/>
              <a:gd name="GluePoint77Y" fmla="*/ 180975 h 450851"/>
              <a:gd name="GluePoint78X" fmla="*/ 269875 w 450850"/>
              <a:gd name="GluePoint78Y" fmla="*/ 180975 h 450851"/>
              <a:gd name="GluePoint79X" fmla="*/ 269875 w 450850"/>
              <a:gd name="GluePoint79Y" fmla="*/ 211138 h 450851"/>
              <a:gd name="GluePoint80X" fmla="*/ 239713 w 450850"/>
              <a:gd name="GluePoint80Y" fmla="*/ 211138 h 450851"/>
              <a:gd name="GluePoint81X" fmla="*/ 179388 w 450850"/>
              <a:gd name="GluePoint81Y" fmla="*/ 180975 h 450851"/>
              <a:gd name="GluePoint82X" fmla="*/ 209550 w 450850"/>
              <a:gd name="GluePoint82Y" fmla="*/ 180975 h 450851"/>
              <a:gd name="GluePoint83X" fmla="*/ 209550 w 450850"/>
              <a:gd name="GluePoint83Y" fmla="*/ 211138 h 450851"/>
              <a:gd name="GluePoint84X" fmla="*/ 179388 w 450850"/>
              <a:gd name="GluePoint84Y" fmla="*/ 211138 h 450851"/>
              <a:gd name="GluePoint85X" fmla="*/ 119063 w 450850"/>
              <a:gd name="GluePoint85Y" fmla="*/ 180975 h 450851"/>
              <a:gd name="GluePoint86X" fmla="*/ 149225 w 450850"/>
              <a:gd name="GluePoint86Y" fmla="*/ 180975 h 450851"/>
              <a:gd name="GluePoint87X" fmla="*/ 149225 w 450850"/>
              <a:gd name="GluePoint87Y" fmla="*/ 211138 h 450851"/>
              <a:gd name="GluePoint88X" fmla="*/ 119063 w 450850"/>
              <a:gd name="GluePoint88Y" fmla="*/ 211138 h 450851"/>
              <a:gd name="GluePoint89X" fmla="*/ 149225 w 450850"/>
              <a:gd name="GluePoint89Y" fmla="*/ 30163 h 450851"/>
              <a:gd name="GluePoint90X" fmla="*/ 300037 w 450850"/>
              <a:gd name="GluePoint90Y" fmla="*/ 30163 h 450851"/>
              <a:gd name="GluePoint91X" fmla="*/ 300037 w 450850"/>
              <a:gd name="GluePoint91Y" fmla="*/ 60326 h 450851"/>
              <a:gd name="GluePoint92X" fmla="*/ 149225 w 450850"/>
              <a:gd name="GluePoint92Y" fmla="*/ 60326 h 450851"/>
              <a:gd name="GluePoint93X" fmla="*/ 37571 w 450850"/>
              <a:gd name="GluePoint93Y" fmla="*/ 30163 h 450851"/>
              <a:gd name="GluePoint94X" fmla="*/ 60113 w 450850"/>
              <a:gd name="GluePoint94Y" fmla="*/ 30163 h 450851"/>
              <a:gd name="GluePoint95X" fmla="*/ 60113 w 450850"/>
              <a:gd name="GluePoint95Y" fmla="*/ 60212 h 450851"/>
              <a:gd name="GluePoint96X" fmla="*/ 37571 w 450850"/>
              <a:gd name="GluePoint96Y" fmla="*/ 60212 h 450851"/>
              <a:gd name="GluePoint97X" fmla="*/ 30057 w 450850"/>
              <a:gd name="GluePoint97Y" fmla="*/ 75236 h 450851"/>
              <a:gd name="GluePoint98X" fmla="*/ 30057 w 450850"/>
              <a:gd name="GluePoint98Y" fmla="*/ 120650 h 450851"/>
              <a:gd name="GluePoint99X" fmla="*/ 420687 w 450850"/>
              <a:gd name="GluePoint99Y" fmla="*/ 120650 h 450851"/>
              <a:gd name="GluePoint100X" fmla="*/ 420687 w 450850"/>
              <a:gd name="GluePoint100Y" fmla="*/ 150813 h 450851"/>
              <a:gd name="GluePoint101X" fmla="*/ 30057 w 450850"/>
              <a:gd name="GluePoint101Y" fmla="*/ 150813 h 450851"/>
              <a:gd name="GluePoint102X" fmla="*/ 30057 w 450850"/>
              <a:gd name="GluePoint102Y" fmla="*/ 184341 h 450851"/>
              <a:gd name="GluePoint103X" fmla="*/ 30057 w 450850"/>
              <a:gd name="GluePoint103Y" fmla="*/ 405778 h 450851"/>
              <a:gd name="GluePoint104X" fmla="*/ 45085 w 450850"/>
              <a:gd name="GluePoint104Y" fmla="*/ 420802 h 450851"/>
              <a:gd name="GluePoint105X" fmla="*/ 405765 w 450850"/>
              <a:gd name="GluePoint105Y" fmla="*/ 420802 h 450851"/>
              <a:gd name="GluePoint106X" fmla="*/ 420793 w 450850"/>
              <a:gd name="GluePoint106Y" fmla="*/ 405778 h 450851"/>
              <a:gd name="GluePoint107X" fmla="*/ 420793 w 450850"/>
              <a:gd name="GluePoint107Y" fmla="*/ 75236 h 450851"/>
              <a:gd name="GluePoint108X" fmla="*/ 413279 w 450850"/>
              <a:gd name="GluePoint108Y" fmla="*/ 60212 h 450851"/>
              <a:gd name="GluePoint109X" fmla="*/ 390737 w 450850"/>
              <a:gd name="GluePoint109Y" fmla="*/ 60212 h 450851"/>
              <a:gd name="GluePoint110X" fmla="*/ 390737 w 450850"/>
              <a:gd name="GluePoint110Y" fmla="*/ 30163 h 450851"/>
              <a:gd name="GluePoint111X" fmla="*/ 413279 w 450850"/>
              <a:gd name="GluePoint111Y" fmla="*/ 30163 h 450851"/>
              <a:gd name="GluePoint112X" fmla="*/ 450850 w 450850"/>
              <a:gd name="GluePoint112Y" fmla="*/ 75236 h 450851"/>
              <a:gd name="GluePoint113X" fmla="*/ 450850 w 450850"/>
              <a:gd name="GluePoint113Y" fmla="*/ 405778 h 450851"/>
              <a:gd name="GluePoint114X" fmla="*/ 405765 w 450850"/>
              <a:gd name="GluePoint114Y" fmla="*/ 450851 h 450851"/>
              <a:gd name="GluePoint115X" fmla="*/ 45085 w 450850"/>
              <a:gd name="GluePoint115Y" fmla="*/ 450851 h 450851"/>
              <a:gd name="GluePoint116X" fmla="*/ 0 w 450850"/>
              <a:gd name="GluePoint116Y" fmla="*/ 405778 h 450851"/>
              <a:gd name="GluePoint117X" fmla="*/ 0 w 450850"/>
              <a:gd name="GluePoint117Y" fmla="*/ 75236 h 450851"/>
              <a:gd name="GluePoint118X" fmla="*/ 37571 w 450850"/>
              <a:gd name="GluePoint118Y" fmla="*/ 30163 h 450851"/>
              <a:gd name="GluePoint119X" fmla="*/ 345281 w 450850"/>
              <a:gd name="GluePoint119Y" fmla="*/ 0 h 450851"/>
              <a:gd name="GluePoint120X" fmla="*/ 360362 w 450850"/>
              <a:gd name="GluePoint120Y" fmla="*/ 15081 h 450851"/>
              <a:gd name="GluePoint121X" fmla="*/ 360362 w 450850"/>
              <a:gd name="GluePoint121Y" fmla="*/ 75406 h 450851"/>
              <a:gd name="GluePoint122X" fmla="*/ 345281 w 450850"/>
              <a:gd name="GluePoint122Y" fmla="*/ 90488 h 450851"/>
              <a:gd name="GluePoint123X" fmla="*/ 330200 w 450850"/>
              <a:gd name="GluePoint123Y" fmla="*/ 75406 h 450851"/>
              <a:gd name="GluePoint124X" fmla="*/ 330200 w 450850"/>
              <a:gd name="GluePoint124Y" fmla="*/ 15081 h 450851"/>
              <a:gd name="GluePoint125X" fmla="*/ 345281 w 450850"/>
              <a:gd name="GluePoint125Y" fmla="*/ 0 h 450851"/>
              <a:gd name="GluePoint126X" fmla="*/ 103981 w 450850"/>
              <a:gd name="GluePoint126Y" fmla="*/ 0 h 450851"/>
              <a:gd name="GluePoint127X" fmla="*/ 119062 w 450850"/>
              <a:gd name="GluePoint127Y" fmla="*/ 15081 h 450851"/>
              <a:gd name="GluePoint128X" fmla="*/ 119062 w 450850"/>
              <a:gd name="GluePoint128Y" fmla="*/ 75406 h 450851"/>
              <a:gd name="GluePoint129X" fmla="*/ 103981 w 450850"/>
              <a:gd name="GluePoint129Y" fmla="*/ 90488 h 450851"/>
              <a:gd name="GluePoint130X" fmla="*/ 88900 w 450850"/>
              <a:gd name="GluePoint130Y" fmla="*/ 75406 h 450851"/>
              <a:gd name="GluePoint131X" fmla="*/ 88900 w 450850"/>
              <a:gd name="GluePoint131Y" fmla="*/ 15081 h 450851"/>
              <a:gd name="GluePoint132X" fmla="*/ 103981 w 450850"/>
              <a:gd name="GluePoint132Y" fmla="*/ 0 h 450851"/>
            </a:gdLst>
            <a:rect l="textAreaLeft" t="textAreaTop" r="textAreaRight" b="textAreaBottom"/>
            <a:pathLst>
              <a:path w="450850" h="450851">
                <a:moveTo>
                  <a:pt x="300038" y="360363"/>
                </a:moveTo>
                <a:lnTo>
                  <a:pt x="330200" y="360363"/>
                </a:lnTo>
                <a:lnTo>
                  <a:pt x="330200" y="390526"/>
                </a:lnTo>
                <a:lnTo>
                  <a:pt x="300038" y="390526"/>
                </a:lnTo>
                <a:close/>
                <a:moveTo>
                  <a:pt x="239713" y="360363"/>
                </a:moveTo>
                <a:lnTo>
                  <a:pt x="269875" y="360363"/>
                </a:lnTo>
                <a:lnTo>
                  <a:pt x="269875" y="390526"/>
                </a:lnTo>
                <a:lnTo>
                  <a:pt x="239713" y="390526"/>
                </a:lnTo>
                <a:close/>
                <a:moveTo>
                  <a:pt x="179388" y="360363"/>
                </a:moveTo>
                <a:lnTo>
                  <a:pt x="209550" y="360363"/>
                </a:lnTo>
                <a:lnTo>
                  <a:pt x="209550" y="390526"/>
                </a:lnTo>
                <a:lnTo>
                  <a:pt x="179388" y="390526"/>
                </a:lnTo>
                <a:close/>
                <a:moveTo>
                  <a:pt x="119063" y="360363"/>
                </a:moveTo>
                <a:lnTo>
                  <a:pt x="149225" y="360363"/>
                </a:lnTo>
                <a:lnTo>
                  <a:pt x="149225" y="390526"/>
                </a:lnTo>
                <a:lnTo>
                  <a:pt x="119063" y="390526"/>
                </a:lnTo>
                <a:close/>
                <a:moveTo>
                  <a:pt x="58738" y="360363"/>
                </a:moveTo>
                <a:lnTo>
                  <a:pt x="88900" y="360363"/>
                </a:lnTo>
                <a:lnTo>
                  <a:pt x="88900" y="390526"/>
                </a:lnTo>
                <a:lnTo>
                  <a:pt x="58738" y="390526"/>
                </a:lnTo>
                <a:close/>
                <a:moveTo>
                  <a:pt x="360363" y="301625"/>
                </a:moveTo>
                <a:lnTo>
                  <a:pt x="390525" y="301625"/>
                </a:lnTo>
                <a:lnTo>
                  <a:pt x="390525" y="330200"/>
                </a:lnTo>
                <a:lnTo>
                  <a:pt x="360363" y="330200"/>
                </a:lnTo>
                <a:close/>
                <a:moveTo>
                  <a:pt x="300038" y="301625"/>
                </a:moveTo>
                <a:lnTo>
                  <a:pt x="330200" y="301625"/>
                </a:lnTo>
                <a:lnTo>
                  <a:pt x="330200" y="330200"/>
                </a:lnTo>
                <a:lnTo>
                  <a:pt x="300038" y="330200"/>
                </a:lnTo>
                <a:close/>
                <a:moveTo>
                  <a:pt x="239713" y="301625"/>
                </a:moveTo>
                <a:lnTo>
                  <a:pt x="269875" y="301625"/>
                </a:lnTo>
                <a:lnTo>
                  <a:pt x="269875" y="330200"/>
                </a:lnTo>
                <a:lnTo>
                  <a:pt x="239713" y="330200"/>
                </a:lnTo>
                <a:close/>
                <a:moveTo>
                  <a:pt x="179388" y="301625"/>
                </a:moveTo>
                <a:lnTo>
                  <a:pt x="209550" y="301625"/>
                </a:lnTo>
                <a:lnTo>
                  <a:pt x="209550" y="330200"/>
                </a:lnTo>
                <a:lnTo>
                  <a:pt x="179388" y="330200"/>
                </a:lnTo>
                <a:close/>
                <a:moveTo>
                  <a:pt x="119063" y="301625"/>
                </a:moveTo>
                <a:lnTo>
                  <a:pt x="149225" y="301625"/>
                </a:lnTo>
                <a:lnTo>
                  <a:pt x="149225" y="330200"/>
                </a:lnTo>
                <a:lnTo>
                  <a:pt x="119063" y="330200"/>
                </a:lnTo>
                <a:close/>
                <a:moveTo>
                  <a:pt x="58738" y="301625"/>
                </a:moveTo>
                <a:lnTo>
                  <a:pt x="88900" y="301625"/>
                </a:lnTo>
                <a:lnTo>
                  <a:pt x="88900" y="330200"/>
                </a:lnTo>
                <a:lnTo>
                  <a:pt x="58738" y="330200"/>
                </a:lnTo>
                <a:close/>
                <a:moveTo>
                  <a:pt x="360363" y="241300"/>
                </a:moveTo>
                <a:lnTo>
                  <a:pt x="390525" y="241300"/>
                </a:lnTo>
                <a:lnTo>
                  <a:pt x="390525" y="271463"/>
                </a:lnTo>
                <a:lnTo>
                  <a:pt x="360363" y="271463"/>
                </a:lnTo>
                <a:close/>
                <a:moveTo>
                  <a:pt x="300038" y="241300"/>
                </a:moveTo>
                <a:lnTo>
                  <a:pt x="330200" y="241300"/>
                </a:lnTo>
                <a:lnTo>
                  <a:pt x="330200" y="271463"/>
                </a:lnTo>
                <a:lnTo>
                  <a:pt x="300038" y="271463"/>
                </a:lnTo>
                <a:close/>
                <a:moveTo>
                  <a:pt x="239713" y="241300"/>
                </a:moveTo>
                <a:lnTo>
                  <a:pt x="269875" y="241300"/>
                </a:lnTo>
                <a:lnTo>
                  <a:pt x="269875" y="271463"/>
                </a:lnTo>
                <a:lnTo>
                  <a:pt x="239713" y="271463"/>
                </a:lnTo>
                <a:close/>
                <a:moveTo>
                  <a:pt x="179388" y="241300"/>
                </a:moveTo>
                <a:lnTo>
                  <a:pt x="209550" y="241300"/>
                </a:lnTo>
                <a:lnTo>
                  <a:pt x="209550" y="271463"/>
                </a:lnTo>
                <a:lnTo>
                  <a:pt x="179388" y="271463"/>
                </a:lnTo>
                <a:close/>
                <a:moveTo>
                  <a:pt x="119063" y="241300"/>
                </a:moveTo>
                <a:lnTo>
                  <a:pt x="149225" y="241300"/>
                </a:lnTo>
                <a:lnTo>
                  <a:pt x="149225" y="271463"/>
                </a:lnTo>
                <a:lnTo>
                  <a:pt x="119063" y="271463"/>
                </a:lnTo>
                <a:close/>
                <a:moveTo>
                  <a:pt x="58738" y="241300"/>
                </a:moveTo>
                <a:lnTo>
                  <a:pt x="88900" y="241300"/>
                </a:lnTo>
                <a:lnTo>
                  <a:pt x="88900" y="271463"/>
                </a:lnTo>
                <a:lnTo>
                  <a:pt x="58738" y="271463"/>
                </a:lnTo>
                <a:close/>
                <a:moveTo>
                  <a:pt x="360363" y="180975"/>
                </a:moveTo>
                <a:lnTo>
                  <a:pt x="390525" y="180975"/>
                </a:lnTo>
                <a:lnTo>
                  <a:pt x="390525" y="211138"/>
                </a:lnTo>
                <a:lnTo>
                  <a:pt x="360363" y="211138"/>
                </a:lnTo>
                <a:close/>
                <a:moveTo>
                  <a:pt x="300038" y="180975"/>
                </a:moveTo>
                <a:lnTo>
                  <a:pt x="330200" y="180975"/>
                </a:lnTo>
                <a:lnTo>
                  <a:pt x="330200" y="211138"/>
                </a:lnTo>
                <a:lnTo>
                  <a:pt x="300038" y="211138"/>
                </a:lnTo>
                <a:close/>
                <a:moveTo>
                  <a:pt x="239713" y="180975"/>
                </a:moveTo>
                <a:lnTo>
                  <a:pt x="269875" y="180975"/>
                </a:lnTo>
                <a:lnTo>
                  <a:pt x="269875" y="211138"/>
                </a:lnTo>
                <a:lnTo>
                  <a:pt x="239713" y="211138"/>
                </a:lnTo>
                <a:close/>
                <a:moveTo>
                  <a:pt x="179388" y="180975"/>
                </a:moveTo>
                <a:lnTo>
                  <a:pt x="209550" y="180975"/>
                </a:lnTo>
                <a:lnTo>
                  <a:pt x="209550" y="211138"/>
                </a:lnTo>
                <a:lnTo>
                  <a:pt x="179388" y="211138"/>
                </a:lnTo>
                <a:close/>
                <a:moveTo>
                  <a:pt x="119063" y="180975"/>
                </a:moveTo>
                <a:lnTo>
                  <a:pt x="149225" y="180975"/>
                </a:lnTo>
                <a:lnTo>
                  <a:pt x="149225" y="211138"/>
                </a:lnTo>
                <a:lnTo>
                  <a:pt x="119063" y="211138"/>
                </a:lnTo>
                <a:close/>
                <a:moveTo>
                  <a:pt x="149225" y="30163"/>
                </a:moveTo>
                <a:lnTo>
                  <a:pt x="300037" y="30163"/>
                </a:lnTo>
                <a:lnTo>
                  <a:pt x="300037" y="60326"/>
                </a:lnTo>
                <a:lnTo>
                  <a:pt x="149225" y="60326"/>
                </a:lnTo>
                <a:close/>
                <a:moveTo>
                  <a:pt x="37571" y="30163"/>
                </a:moveTo>
                <a:cubicBezTo>
                  <a:pt x="60113" y="30163"/>
                  <a:pt x="60113" y="30163"/>
                  <a:pt x="60113" y="30163"/>
                </a:cubicBezTo>
                <a:cubicBezTo>
                  <a:pt x="60113" y="60212"/>
                  <a:pt x="60113" y="60212"/>
                  <a:pt x="60113" y="60212"/>
                </a:cubicBezTo>
                <a:cubicBezTo>
                  <a:pt x="37571" y="60212"/>
                  <a:pt x="37571" y="60212"/>
                  <a:pt x="37571" y="60212"/>
                </a:cubicBezTo>
                <a:cubicBezTo>
                  <a:pt x="33814" y="60212"/>
                  <a:pt x="30057" y="67724"/>
                  <a:pt x="30057" y="75236"/>
                </a:cubicBezTo>
                <a:lnTo>
                  <a:pt x="30057" y="120650"/>
                </a:lnTo>
                <a:lnTo>
                  <a:pt x="420687" y="120650"/>
                </a:lnTo>
                <a:lnTo>
                  <a:pt x="420687" y="150813"/>
                </a:lnTo>
                <a:lnTo>
                  <a:pt x="30057" y="150813"/>
                </a:lnTo>
                <a:lnTo>
                  <a:pt x="30057" y="184341"/>
                </a:lnTo>
                <a:cubicBezTo>
                  <a:pt x="30057" y="405778"/>
                  <a:pt x="30057" y="405778"/>
                  <a:pt x="30057" y="405778"/>
                </a:cubicBezTo>
                <a:cubicBezTo>
                  <a:pt x="30057" y="413290"/>
                  <a:pt x="37571" y="420802"/>
                  <a:pt x="45085" y="420802"/>
                </a:cubicBezTo>
                <a:cubicBezTo>
                  <a:pt x="405765" y="420802"/>
                  <a:pt x="405765" y="420802"/>
                  <a:pt x="405765" y="420802"/>
                </a:cubicBezTo>
                <a:cubicBezTo>
                  <a:pt x="413279" y="420802"/>
                  <a:pt x="420793" y="413290"/>
                  <a:pt x="420793" y="405778"/>
                </a:cubicBezTo>
                <a:cubicBezTo>
                  <a:pt x="420793" y="75236"/>
                  <a:pt x="420793" y="75236"/>
                  <a:pt x="420793" y="75236"/>
                </a:cubicBezTo>
                <a:cubicBezTo>
                  <a:pt x="420793" y="67724"/>
                  <a:pt x="417036" y="60212"/>
                  <a:pt x="413279" y="60212"/>
                </a:cubicBezTo>
                <a:cubicBezTo>
                  <a:pt x="390737" y="60212"/>
                  <a:pt x="390737" y="60212"/>
                  <a:pt x="390737" y="60212"/>
                </a:cubicBezTo>
                <a:cubicBezTo>
                  <a:pt x="390737" y="30163"/>
                  <a:pt x="390737" y="30163"/>
                  <a:pt x="390737" y="30163"/>
                </a:cubicBezTo>
                <a:cubicBezTo>
                  <a:pt x="413279" y="30163"/>
                  <a:pt x="413279" y="30163"/>
                  <a:pt x="413279" y="30163"/>
                </a:cubicBezTo>
                <a:cubicBezTo>
                  <a:pt x="435822" y="30163"/>
                  <a:pt x="450850" y="48943"/>
                  <a:pt x="450850" y="75236"/>
                </a:cubicBezTo>
                <a:cubicBezTo>
                  <a:pt x="450850" y="405778"/>
                  <a:pt x="450850" y="405778"/>
                  <a:pt x="450850" y="405778"/>
                </a:cubicBezTo>
                <a:cubicBezTo>
                  <a:pt x="450850" y="432071"/>
                  <a:pt x="432065" y="450851"/>
                  <a:pt x="405765" y="450851"/>
                </a:cubicBezTo>
                <a:cubicBezTo>
                  <a:pt x="45085" y="450851"/>
                  <a:pt x="45085" y="450851"/>
                  <a:pt x="45085" y="450851"/>
                </a:cubicBezTo>
                <a:cubicBezTo>
                  <a:pt x="18785" y="450851"/>
                  <a:pt x="0" y="432071"/>
                  <a:pt x="0" y="405778"/>
                </a:cubicBezTo>
                <a:cubicBezTo>
                  <a:pt x="0" y="75236"/>
                  <a:pt x="0" y="75236"/>
                  <a:pt x="0" y="75236"/>
                </a:cubicBezTo>
                <a:cubicBezTo>
                  <a:pt x="0" y="48943"/>
                  <a:pt x="15028" y="30163"/>
                  <a:pt x="37571" y="30163"/>
                </a:cubicBezTo>
                <a:close/>
                <a:moveTo>
                  <a:pt x="345281" y="0"/>
                </a:moveTo>
                <a:cubicBezTo>
                  <a:pt x="352822" y="0"/>
                  <a:pt x="360362" y="7540"/>
                  <a:pt x="360362" y="15081"/>
                </a:cubicBezTo>
                <a:cubicBezTo>
                  <a:pt x="360362" y="75406"/>
                  <a:pt x="360362" y="75406"/>
                  <a:pt x="360362" y="75406"/>
                </a:cubicBezTo>
                <a:cubicBezTo>
                  <a:pt x="360362" y="82947"/>
                  <a:pt x="352822" y="90488"/>
                  <a:pt x="345281" y="90488"/>
                </a:cubicBezTo>
                <a:cubicBezTo>
                  <a:pt x="337741" y="90488"/>
                  <a:pt x="330200" y="82947"/>
                  <a:pt x="330200" y="75406"/>
                </a:cubicBezTo>
                <a:cubicBezTo>
                  <a:pt x="330200" y="15081"/>
                  <a:pt x="330200" y="15081"/>
                  <a:pt x="330200" y="15081"/>
                </a:cubicBezTo>
                <a:cubicBezTo>
                  <a:pt x="330200" y="7540"/>
                  <a:pt x="337741" y="0"/>
                  <a:pt x="345281" y="0"/>
                </a:cubicBezTo>
                <a:close/>
                <a:moveTo>
                  <a:pt x="103981" y="0"/>
                </a:moveTo>
                <a:cubicBezTo>
                  <a:pt x="111522" y="0"/>
                  <a:pt x="119062" y="7540"/>
                  <a:pt x="119062" y="15081"/>
                </a:cubicBezTo>
                <a:cubicBezTo>
                  <a:pt x="119062" y="75406"/>
                  <a:pt x="119062" y="75406"/>
                  <a:pt x="119062" y="75406"/>
                </a:cubicBezTo>
                <a:cubicBezTo>
                  <a:pt x="119062" y="82947"/>
                  <a:pt x="111522" y="90488"/>
                  <a:pt x="103981" y="90488"/>
                </a:cubicBezTo>
                <a:cubicBezTo>
                  <a:pt x="96441" y="90488"/>
                  <a:pt x="88900" y="82947"/>
                  <a:pt x="88900" y="75406"/>
                </a:cubicBezTo>
                <a:cubicBezTo>
                  <a:pt x="88900" y="15081"/>
                  <a:pt x="88900" y="15081"/>
                  <a:pt x="88900" y="15081"/>
                </a:cubicBezTo>
                <a:cubicBezTo>
                  <a:pt x="88900" y="7540"/>
                  <a:pt x="96441" y="0"/>
                  <a:pt x="103981" y="0"/>
                </a:cubicBez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Freeform 86">
            <a:extLst xmlns:a="http://schemas.openxmlformats.org/drawingml/2006/main">
              <a:ext uri="{FF2B5EF4-FFF2-40B4-BE49-F238E27FC236}">
                <a16:creationId xmlns:a16="http://schemas.microsoft.com/office/drawing/2014/main" id="{180FCDF4-4C73-4FF5-BB57-B1DA5D13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00" y="2523240"/>
            <a:ext cx="781920" cy="588600"/>
          </a:xfrm>
          <a:custGeom xmlns:a="http://schemas.openxmlformats.org/drawingml/2006/main">
            <a:gdLst>
              <a:gd name="textAreaLeft" fmla="*/ 0 w 781920"/>
              <a:gd name="textAreaRight" fmla="*/ 782280 w 781920"/>
              <a:gd name="textAreaTop" fmla="*/ 0 h 588600"/>
              <a:gd name="textAreaBottom" fmla="*/ 588960 h 588600"/>
              <a:gd name="GluePoint1X" fmla="*/ 577 w 581"/>
              <a:gd name="GluePoint1Y" fmla="*/ 228 h 437"/>
              <a:gd name="GluePoint2X" fmla="*/ 555 w 581"/>
              <a:gd name="GluePoint2Y" fmla="*/ 197 h 437"/>
              <a:gd name="GluePoint3X" fmla="*/ 536 w 581"/>
              <a:gd name="GluePoint3Y" fmla="*/ 99 h 437"/>
              <a:gd name="GluePoint4X" fmla="*/ 520 w 581"/>
              <a:gd name="GluePoint4Y" fmla="*/ 74 h 437"/>
              <a:gd name="GluePoint5X" fmla="*/ 472 w 581"/>
              <a:gd name="GluePoint5Y" fmla="*/ 31 h 437"/>
              <a:gd name="GluePoint6X" fmla="*/ 467 w 581"/>
              <a:gd name="GluePoint6Y" fmla="*/ 13 h 437"/>
              <a:gd name="GluePoint7X" fmla="*/ 48 w 581"/>
              <a:gd name="GluePoint7Y" fmla="*/ 0 h 437"/>
              <a:gd name="GluePoint8X" fmla="*/ 24 w 581"/>
              <a:gd name="GluePoint8Y" fmla="*/ 8 h 437"/>
              <a:gd name="GluePoint9X" fmla="*/ 4 w 581"/>
              <a:gd name="GluePoint9Y" fmla="*/ 31 h 437"/>
              <a:gd name="GluePoint10X" fmla="*/ 0 w 581"/>
              <a:gd name="GluePoint10Y" fmla="*/ 50 h 437"/>
              <a:gd name="GluePoint11X" fmla="*/ 0 w 581"/>
              <a:gd name="GluePoint11Y" fmla="*/ 85 h 437"/>
              <a:gd name="GluePoint12X" fmla="*/ 4 w 581"/>
              <a:gd name="GluePoint12Y" fmla="*/ 408 h 437"/>
              <a:gd name="GluePoint13X" fmla="*/ 29 w 581"/>
              <a:gd name="GluePoint13Y" fmla="*/ 434 h 437"/>
              <a:gd name="GluePoint14X" fmla="*/ 511 w 581"/>
              <a:gd name="GluePoint14Y" fmla="*/ 437 h 437"/>
              <a:gd name="GluePoint15X" fmla="*/ 536 w 581"/>
              <a:gd name="GluePoint15Y" fmla="*/ 421 h 437"/>
              <a:gd name="GluePoint16X" fmla="*/ 538 w 581"/>
              <a:gd name="GluePoint16Y" fmla="*/ 309 h 437"/>
              <a:gd name="GluePoint17X" fmla="*/ 568 w 581"/>
              <a:gd name="GluePoint17Y" fmla="*/ 287 h 437"/>
              <a:gd name="GluePoint18X" fmla="*/ 581 w 581"/>
              <a:gd name="GluePoint18Y" fmla="*/ 248 h 437"/>
              <a:gd name="GluePoint19X" fmla="*/ 443 w 581"/>
              <a:gd name="GluePoint19Y" fmla="*/ 28 h 437"/>
              <a:gd name="GluePoint20X" fmla="*/ 48 w 581"/>
              <a:gd name="GluePoint20Y" fmla="*/ 72 h 437"/>
              <a:gd name="GluePoint21X" fmla="*/ 42 w 581"/>
              <a:gd name="GluePoint21Y" fmla="*/ 70 h 437"/>
              <a:gd name="GluePoint22X" fmla="*/ 39 w 581"/>
              <a:gd name="GluePoint22Y" fmla="*/ 68 h 437"/>
              <a:gd name="GluePoint23X" fmla="*/ 35 w 581"/>
              <a:gd name="GluePoint23Y" fmla="*/ 66 h 437"/>
              <a:gd name="GluePoint24X" fmla="*/ 31 w 581"/>
              <a:gd name="GluePoint24Y" fmla="*/ 63 h 437"/>
              <a:gd name="GluePoint25X" fmla="*/ 28 w 581"/>
              <a:gd name="GluePoint25Y" fmla="*/ 57 h 437"/>
              <a:gd name="GluePoint26X" fmla="*/ 26 w 581"/>
              <a:gd name="GluePoint26Y" fmla="*/ 50 h 437"/>
              <a:gd name="GluePoint27X" fmla="*/ 28 w 581"/>
              <a:gd name="GluePoint27Y" fmla="*/ 44 h 437"/>
              <a:gd name="GluePoint28X" fmla="*/ 48 w 581"/>
              <a:gd name="GluePoint28Y" fmla="*/ 28 h 437"/>
              <a:gd name="GluePoint29X" fmla="*/ 509 w 581"/>
              <a:gd name="GluePoint29Y" fmla="*/ 412 h 437"/>
              <a:gd name="GluePoint30X" fmla="*/ 33 w 581"/>
              <a:gd name="GluePoint30Y" fmla="*/ 406 h 437"/>
              <a:gd name="GluePoint31X" fmla="*/ 26 w 581"/>
              <a:gd name="GluePoint31Y" fmla="*/ 92 h 437"/>
              <a:gd name="GluePoint32X" fmla="*/ 29 w 581"/>
              <a:gd name="GluePoint32Y" fmla="*/ 94 h 437"/>
              <a:gd name="GluePoint33X" fmla="*/ 37 w 581"/>
              <a:gd name="GluePoint33Y" fmla="*/ 96 h 437"/>
              <a:gd name="GluePoint34X" fmla="*/ 509 w 581"/>
              <a:gd name="GluePoint34Y" fmla="*/ 98 h 437"/>
              <a:gd name="GluePoint35X" fmla="*/ 446 w 581"/>
              <a:gd name="GluePoint35Y" fmla="*/ 182 h 437"/>
              <a:gd name="GluePoint36X" fmla="*/ 410 w 581"/>
              <a:gd name="GluePoint36Y" fmla="*/ 193 h 437"/>
              <a:gd name="GluePoint37X" fmla="*/ 382 w 581"/>
              <a:gd name="GluePoint37Y" fmla="*/ 234 h 437"/>
              <a:gd name="GluePoint38X" fmla="*/ 386 w 581"/>
              <a:gd name="GluePoint38Y" fmla="*/ 274 h 437"/>
              <a:gd name="GluePoint39X" fmla="*/ 421 w 581"/>
              <a:gd name="GluePoint39Y" fmla="*/ 309 h 437"/>
              <a:gd name="GluePoint40X" fmla="*/ 511 w 581"/>
              <a:gd name="GluePoint40Y" fmla="*/ 410 h 437"/>
              <a:gd name="GluePoint41X" fmla="*/ 522 w 581"/>
              <a:gd name="GluePoint41Y" fmla="*/ 287 h 437"/>
              <a:gd name="GluePoint42X" fmla="*/ 439 w 581"/>
              <a:gd name="GluePoint42Y" fmla="*/ 287 h 437"/>
              <a:gd name="GluePoint43X" fmla="*/ 413 w 581"/>
              <a:gd name="GluePoint43Y" fmla="*/ 270 h 437"/>
              <a:gd name="GluePoint44X" fmla="*/ 408 w 581"/>
              <a:gd name="GluePoint44Y" fmla="*/ 248 h 437"/>
              <a:gd name="GluePoint45X" fmla="*/ 419 w 581"/>
              <a:gd name="GluePoint45Y" fmla="*/ 221 h 437"/>
              <a:gd name="GluePoint46X" fmla="*/ 446 w 581"/>
              <a:gd name="GluePoint46Y" fmla="*/ 210 h 437"/>
              <a:gd name="GluePoint47X" fmla="*/ 522 w 581"/>
              <a:gd name="GluePoint47Y" fmla="*/ 210 h 437"/>
              <a:gd name="GluePoint48X" fmla="*/ 544 w 581"/>
              <a:gd name="GluePoint48Y" fmla="*/ 222 h 437"/>
              <a:gd name="GluePoint49X" fmla="*/ 553 w 581"/>
              <a:gd name="GluePoint49Y" fmla="*/ 248 h 437"/>
              <a:gd name="GluePoint50X" fmla="*/ 548 w 581"/>
              <a:gd name="GluePoint50Y" fmla="*/ 268 h 437"/>
              <a:gd name="GluePoint51X" fmla="*/ 529 w 581"/>
              <a:gd name="GluePoint51Y" fmla="*/ 285 h 437"/>
              <a:gd name="GluePoint52X" fmla="*/ 470 w 581"/>
              <a:gd name="GluePoint52Y" fmla="*/ 248 h 437"/>
              <a:gd name="GluePoint53X" fmla="*/ 456 w 581"/>
              <a:gd name="GluePoint53Y" fmla="*/ 263 h 437"/>
              <a:gd name="GluePoint54X" fmla="*/ 443 w 581"/>
              <a:gd name="GluePoint54Y" fmla="*/ 254 h 437"/>
              <a:gd name="GluePoint55X" fmla="*/ 446 w 581"/>
              <a:gd name="GluePoint55Y" fmla="*/ 237 h 437"/>
              <a:gd name="GluePoint56X" fmla="*/ 461 w 581"/>
              <a:gd name="GluePoint56Y" fmla="*/ 235 h 437"/>
              <a:gd name="GluePoint57X" fmla="*/ 470 w 581"/>
              <a:gd name="GluePoint57Y" fmla="*/ 248 h 437"/>
            </a:gdLst>
            <a:rect l="textAreaLeft" t="textAreaTop" r="textAreaRight" b="textAreaBottom"/>
            <a:pathLst>
              <a:path w="581" h="437">
                <a:moveTo>
                  <a:pt x="581" y="248"/>
                </a:moveTo>
                <a:lnTo>
                  <a:pt x="581" y="248"/>
                </a:lnTo>
                <a:lnTo>
                  <a:pt x="579" y="237"/>
                </a:lnTo>
                <a:lnTo>
                  <a:pt x="577" y="228"/>
                </a:lnTo>
                <a:lnTo>
                  <a:pt x="573" y="219"/>
                </a:lnTo>
                <a:lnTo>
                  <a:pt x="568" y="210"/>
                </a:lnTo>
                <a:lnTo>
                  <a:pt x="562" y="202"/>
                </a:lnTo>
                <a:lnTo>
                  <a:pt x="555" y="197"/>
                </a:lnTo>
                <a:lnTo>
                  <a:pt x="546" y="191"/>
                </a:lnTo>
                <a:lnTo>
                  <a:pt x="536" y="186"/>
                </a:lnTo>
                <a:lnTo>
                  <a:pt x="536" y="99"/>
                </a:lnTo>
                <a:lnTo>
                  <a:pt x="536" y="99"/>
                </a:lnTo>
                <a:lnTo>
                  <a:pt x="536" y="94"/>
                </a:lnTo>
                <a:lnTo>
                  <a:pt x="535" y="88"/>
                </a:lnTo>
                <a:lnTo>
                  <a:pt x="529" y="79"/>
                </a:lnTo>
                <a:lnTo>
                  <a:pt x="520" y="74"/>
                </a:lnTo>
                <a:lnTo>
                  <a:pt x="514" y="72"/>
                </a:lnTo>
                <a:lnTo>
                  <a:pt x="509" y="72"/>
                </a:lnTo>
                <a:lnTo>
                  <a:pt x="472" y="72"/>
                </a:lnTo>
                <a:lnTo>
                  <a:pt x="472" y="31"/>
                </a:lnTo>
                <a:lnTo>
                  <a:pt x="472" y="31"/>
                </a:lnTo>
                <a:lnTo>
                  <a:pt x="472" y="24"/>
                </a:lnTo>
                <a:lnTo>
                  <a:pt x="470" y="19"/>
                </a:lnTo>
                <a:lnTo>
                  <a:pt x="467" y="13"/>
                </a:lnTo>
                <a:lnTo>
                  <a:pt x="463" y="8"/>
                </a:lnTo>
                <a:lnTo>
                  <a:pt x="454" y="2"/>
                </a:lnTo>
                <a:lnTo>
                  <a:pt x="443" y="0"/>
                </a:lnTo>
                <a:lnTo>
                  <a:pt x="48" y="0"/>
                </a:lnTo>
                <a:lnTo>
                  <a:pt x="48" y="0"/>
                </a:lnTo>
                <a:lnTo>
                  <a:pt x="39" y="2"/>
                </a:lnTo>
                <a:lnTo>
                  <a:pt x="31" y="4"/>
                </a:lnTo>
                <a:lnTo>
                  <a:pt x="24" y="8"/>
                </a:lnTo>
                <a:lnTo>
                  <a:pt x="17" y="11"/>
                </a:lnTo>
                <a:lnTo>
                  <a:pt x="11" y="19"/>
                </a:lnTo>
                <a:lnTo>
                  <a:pt x="7" y="24"/>
                </a:lnTo>
                <a:lnTo>
                  <a:pt x="4" y="31"/>
                </a:lnTo>
                <a:lnTo>
                  <a:pt x="0" y="41"/>
                </a:lnTo>
                <a:lnTo>
                  <a:pt x="0" y="41"/>
                </a:lnTo>
                <a:lnTo>
                  <a:pt x="0" y="50"/>
                </a:lnTo>
                <a:lnTo>
                  <a:pt x="0" y="50"/>
                </a:lnTo>
                <a:lnTo>
                  <a:pt x="0" y="57"/>
                </a:lnTo>
                <a:lnTo>
                  <a:pt x="0" y="79"/>
                </a:lnTo>
                <a:lnTo>
                  <a:pt x="0" y="79"/>
                </a:lnTo>
                <a:lnTo>
                  <a:pt x="0" y="85"/>
                </a:lnTo>
                <a:lnTo>
                  <a:pt x="0" y="390"/>
                </a:lnTo>
                <a:lnTo>
                  <a:pt x="0" y="390"/>
                </a:lnTo>
                <a:lnTo>
                  <a:pt x="2" y="399"/>
                </a:lnTo>
                <a:lnTo>
                  <a:pt x="4" y="408"/>
                </a:lnTo>
                <a:lnTo>
                  <a:pt x="9" y="415"/>
                </a:lnTo>
                <a:lnTo>
                  <a:pt x="15" y="423"/>
                </a:lnTo>
                <a:lnTo>
                  <a:pt x="22" y="428"/>
                </a:lnTo>
                <a:lnTo>
                  <a:pt x="29" y="434"/>
                </a:lnTo>
                <a:lnTo>
                  <a:pt x="39" y="437"/>
                </a:lnTo>
                <a:lnTo>
                  <a:pt x="50" y="437"/>
                </a:lnTo>
                <a:lnTo>
                  <a:pt x="511" y="437"/>
                </a:lnTo>
                <a:lnTo>
                  <a:pt x="511" y="437"/>
                </a:lnTo>
                <a:lnTo>
                  <a:pt x="516" y="437"/>
                </a:lnTo>
                <a:lnTo>
                  <a:pt x="520" y="436"/>
                </a:lnTo>
                <a:lnTo>
                  <a:pt x="529" y="430"/>
                </a:lnTo>
                <a:lnTo>
                  <a:pt x="536" y="421"/>
                </a:lnTo>
                <a:lnTo>
                  <a:pt x="536" y="415"/>
                </a:lnTo>
                <a:lnTo>
                  <a:pt x="538" y="410"/>
                </a:lnTo>
                <a:lnTo>
                  <a:pt x="538" y="309"/>
                </a:lnTo>
                <a:lnTo>
                  <a:pt x="538" y="309"/>
                </a:lnTo>
                <a:lnTo>
                  <a:pt x="548" y="305"/>
                </a:lnTo>
                <a:lnTo>
                  <a:pt x="555" y="300"/>
                </a:lnTo>
                <a:lnTo>
                  <a:pt x="562" y="294"/>
                </a:lnTo>
                <a:lnTo>
                  <a:pt x="568" y="287"/>
                </a:lnTo>
                <a:lnTo>
                  <a:pt x="573" y="278"/>
                </a:lnTo>
                <a:lnTo>
                  <a:pt x="577" y="268"/>
                </a:lnTo>
                <a:lnTo>
                  <a:pt x="579" y="259"/>
                </a:lnTo>
                <a:lnTo>
                  <a:pt x="581" y="248"/>
                </a:lnTo>
                <a:lnTo>
                  <a:pt x="581" y="248"/>
                </a:lnTo>
                <a:close/>
                <a:moveTo>
                  <a:pt x="48" y="28"/>
                </a:moveTo>
                <a:lnTo>
                  <a:pt x="443" y="28"/>
                </a:lnTo>
                <a:lnTo>
                  <a:pt x="443" y="28"/>
                </a:lnTo>
                <a:lnTo>
                  <a:pt x="446" y="28"/>
                </a:lnTo>
                <a:lnTo>
                  <a:pt x="446" y="31"/>
                </a:lnTo>
                <a:lnTo>
                  <a:pt x="446" y="72"/>
                </a:lnTo>
                <a:lnTo>
                  <a:pt x="48" y="72"/>
                </a:lnTo>
                <a:lnTo>
                  <a:pt x="48" y="72"/>
                </a:lnTo>
                <a:lnTo>
                  <a:pt x="44" y="70"/>
                </a:lnTo>
                <a:lnTo>
                  <a:pt x="44" y="70"/>
                </a:lnTo>
                <a:lnTo>
                  <a:pt x="42" y="70"/>
                </a:lnTo>
                <a:lnTo>
                  <a:pt x="42" y="70"/>
                </a:lnTo>
                <a:lnTo>
                  <a:pt x="40" y="70"/>
                </a:lnTo>
                <a:lnTo>
                  <a:pt x="40" y="70"/>
                </a:lnTo>
                <a:lnTo>
                  <a:pt x="39" y="68"/>
                </a:lnTo>
                <a:lnTo>
                  <a:pt x="39" y="68"/>
                </a:lnTo>
                <a:lnTo>
                  <a:pt x="37" y="68"/>
                </a:lnTo>
                <a:lnTo>
                  <a:pt x="37" y="68"/>
                </a:lnTo>
                <a:lnTo>
                  <a:pt x="35" y="66"/>
                </a:lnTo>
                <a:lnTo>
                  <a:pt x="33" y="63"/>
                </a:lnTo>
                <a:lnTo>
                  <a:pt x="33" y="63"/>
                </a:lnTo>
                <a:lnTo>
                  <a:pt x="31" y="63"/>
                </a:lnTo>
                <a:lnTo>
                  <a:pt x="31" y="63"/>
                </a:lnTo>
                <a:lnTo>
                  <a:pt x="29" y="59"/>
                </a:lnTo>
                <a:lnTo>
                  <a:pt x="29" y="59"/>
                </a:lnTo>
                <a:lnTo>
                  <a:pt x="29" y="59"/>
                </a:lnTo>
                <a:lnTo>
                  <a:pt x="28" y="57"/>
                </a:lnTo>
                <a:lnTo>
                  <a:pt x="28" y="57"/>
                </a:lnTo>
                <a:lnTo>
                  <a:pt x="28" y="53"/>
                </a:lnTo>
                <a:lnTo>
                  <a:pt x="28" y="53"/>
                </a:lnTo>
                <a:lnTo>
                  <a:pt x="26" y="50"/>
                </a:lnTo>
                <a:lnTo>
                  <a:pt x="26" y="50"/>
                </a:lnTo>
                <a:lnTo>
                  <a:pt x="28" y="46"/>
                </a:lnTo>
                <a:lnTo>
                  <a:pt x="28" y="44"/>
                </a:lnTo>
                <a:lnTo>
                  <a:pt x="28" y="44"/>
                </a:lnTo>
                <a:lnTo>
                  <a:pt x="29" y="39"/>
                </a:lnTo>
                <a:lnTo>
                  <a:pt x="35" y="31"/>
                </a:lnTo>
                <a:lnTo>
                  <a:pt x="40" y="28"/>
                </a:lnTo>
                <a:lnTo>
                  <a:pt x="48" y="28"/>
                </a:lnTo>
                <a:lnTo>
                  <a:pt x="48" y="28"/>
                </a:lnTo>
                <a:close/>
                <a:moveTo>
                  <a:pt x="511" y="410"/>
                </a:moveTo>
                <a:lnTo>
                  <a:pt x="511" y="410"/>
                </a:lnTo>
                <a:lnTo>
                  <a:pt x="509" y="412"/>
                </a:lnTo>
                <a:lnTo>
                  <a:pt x="48" y="412"/>
                </a:lnTo>
                <a:lnTo>
                  <a:pt x="48" y="412"/>
                </a:lnTo>
                <a:lnTo>
                  <a:pt x="39" y="410"/>
                </a:lnTo>
                <a:lnTo>
                  <a:pt x="33" y="406"/>
                </a:lnTo>
                <a:lnTo>
                  <a:pt x="28" y="399"/>
                </a:lnTo>
                <a:lnTo>
                  <a:pt x="26" y="390"/>
                </a:lnTo>
                <a:lnTo>
                  <a:pt x="26" y="92"/>
                </a:lnTo>
                <a:lnTo>
                  <a:pt x="26" y="92"/>
                </a:lnTo>
                <a:lnTo>
                  <a:pt x="28" y="92"/>
                </a:lnTo>
                <a:lnTo>
                  <a:pt x="28" y="92"/>
                </a:lnTo>
                <a:lnTo>
                  <a:pt x="29" y="94"/>
                </a:lnTo>
                <a:lnTo>
                  <a:pt x="29" y="94"/>
                </a:lnTo>
                <a:lnTo>
                  <a:pt x="33" y="96"/>
                </a:lnTo>
                <a:lnTo>
                  <a:pt x="33" y="96"/>
                </a:lnTo>
                <a:lnTo>
                  <a:pt x="37" y="96"/>
                </a:lnTo>
                <a:lnTo>
                  <a:pt x="37" y="96"/>
                </a:lnTo>
                <a:lnTo>
                  <a:pt x="39" y="96"/>
                </a:lnTo>
                <a:lnTo>
                  <a:pt x="39" y="96"/>
                </a:lnTo>
                <a:lnTo>
                  <a:pt x="42" y="98"/>
                </a:lnTo>
                <a:lnTo>
                  <a:pt x="509" y="98"/>
                </a:lnTo>
                <a:lnTo>
                  <a:pt x="509" y="98"/>
                </a:lnTo>
                <a:lnTo>
                  <a:pt x="511" y="99"/>
                </a:lnTo>
                <a:lnTo>
                  <a:pt x="511" y="182"/>
                </a:lnTo>
                <a:lnTo>
                  <a:pt x="446" y="182"/>
                </a:lnTo>
                <a:lnTo>
                  <a:pt x="446" y="182"/>
                </a:lnTo>
                <a:lnTo>
                  <a:pt x="434" y="184"/>
                </a:lnTo>
                <a:lnTo>
                  <a:pt x="421" y="188"/>
                </a:lnTo>
                <a:lnTo>
                  <a:pt x="410" y="193"/>
                </a:lnTo>
                <a:lnTo>
                  <a:pt x="401" y="200"/>
                </a:lnTo>
                <a:lnTo>
                  <a:pt x="391" y="211"/>
                </a:lnTo>
                <a:lnTo>
                  <a:pt x="386" y="222"/>
                </a:lnTo>
                <a:lnTo>
                  <a:pt x="382" y="234"/>
                </a:lnTo>
                <a:lnTo>
                  <a:pt x="380" y="248"/>
                </a:lnTo>
                <a:lnTo>
                  <a:pt x="380" y="248"/>
                </a:lnTo>
                <a:lnTo>
                  <a:pt x="382" y="261"/>
                </a:lnTo>
                <a:lnTo>
                  <a:pt x="386" y="274"/>
                </a:lnTo>
                <a:lnTo>
                  <a:pt x="391" y="285"/>
                </a:lnTo>
                <a:lnTo>
                  <a:pt x="401" y="294"/>
                </a:lnTo>
                <a:lnTo>
                  <a:pt x="410" y="301"/>
                </a:lnTo>
                <a:lnTo>
                  <a:pt x="421" y="309"/>
                </a:lnTo>
                <a:lnTo>
                  <a:pt x="434" y="313"/>
                </a:lnTo>
                <a:lnTo>
                  <a:pt x="446" y="313"/>
                </a:lnTo>
                <a:lnTo>
                  <a:pt x="511" y="313"/>
                </a:lnTo>
                <a:lnTo>
                  <a:pt x="511" y="410"/>
                </a:lnTo>
                <a:lnTo>
                  <a:pt x="511" y="410"/>
                </a:lnTo>
                <a:close/>
                <a:moveTo>
                  <a:pt x="522" y="287"/>
                </a:moveTo>
                <a:lnTo>
                  <a:pt x="522" y="287"/>
                </a:lnTo>
                <a:lnTo>
                  <a:pt x="522" y="287"/>
                </a:lnTo>
                <a:lnTo>
                  <a:pt x="514" y="287"/>
                </a:lnTo>
                <a:lnTo>
                  <a:pt x="446" y="287"/>
                </a:lnTo>
                <a:lnTo>
                  <a:pt x="446" y="287"/>
                </a:lnTo>
                <a:lnTo>
                  <a:pt x="439" y="287"/>
                </a:lnTo>
                <a:lnTo>
                  <a:pt x="432" y="285"/>
                </a:lnTo>
                <a:lnTo>
                  <a:pt x="424" y="281"/>
                </a:lnTo>
                <a:lnTo>
                  <a:pt x="419" y="276"/>
                </a:lnTo>
                <a:lnTo>
                  <a:pt x="413" y="270"/>
                </a:lnTo>
                <a:lnTo>
                  <a:pt x="410" y="263"/>
                </a:lnTo>
                <a:lnTo>
                  <a:pt x="408" y="256"/>
                </a:lnTo>
                <a:lnTo>
                  <a:pt x="408" y="248"/>
                </a:lnTo>
                <a:lnTo>
                  <a:pt x="408" y="248"/>
                </a:lnTo>
                <a:lnTo>
                  <a:pt x="408" y="241"/>
                </a:lnTo>
                <a:lnTo>
                  <a:pt x="410" y="234"/>
                </a:lnTo>
                <a:lnTo>
                  <a:pt x="413" y="226"/>
                </a:lnTo>
                <a:lnTo>
                  <a:pt x="419" y="221"/>
                </a:lnTo>
                <a:lnTo>
                  <a:pt x="424" y="215"/>
                </a:lnTo>
                <a:lnTo>
                  <a:pt x="432" y="211"/>
                </a:lnTo>
                <a:lnTo>
                  <a:pt x="439" y="210"/>
                </a:lnTo>
                <a:lnTo>
                  <a:pt x="446" y="210"/>
                </a:lnTo>
                <a:lnTo>
                  <a:pt x="514" y="210"/>
                </a:lnTo>
                <a:lnTo>
                  <a:pt x="514" y="210"/>
                </a:lnTo>
                <a:lnTo>
                  <a:pt x="522" y="210"/>
                </a:lnTo>
                <a:lnTo>
                  <a:pt x="522" y="210"/>
                </a:lnTo>
                <a:lnTo>
                  <a:pt x="529" y="211"/>
                </a:lnTo>
                <a:lnTo>
                  <a:pt x="535" y="215"/>
                </a:lnTo>
                <a:lnTo>
                  <a:pt x="540" y="219"/>
                </a:lnTo>
                <a:lnTo>
                  <a:pt x="544" y="222"/>
                </a:lnTo>
                <a:lnTo>
                  <a:pt x="548" y="228"/>
                </a:lnTo>
                <a:lnTo>
                  <a:pt x="551" y="234"/>
                </a:lnTo>
                <a:lnTo>
                  <a:pt x="553" y="241"/>
                </a:lnTo>
                <a:lnTo>
                  <a:pt x="553" y="248"/>
                </a:lnTo>
                <a:lnTo>
                  <a:pt x="553" y="248"/>
                </a:lnTo>
                <a:lnTo>
                  <a:pt x="553" y="256"/>
                </a:lnTo>
                <a:lnTo>
                  <a:pt x="551" y="261"/>
                </a:lnTo>
                <a:lnTo>
                  <a:pt x="548" y="268"/>
                </a:lnTo>
                <a:lnTo>
                  <a:pt x="544" y="274"/>
                </a:lnTo>
                <a:lnTo>
                  <a:pt x="540" y="278"/>
                </a:lnTo>
                <a:lnTo>
                  <a:pt x="535" y="281"/>
                </a:lnTo>
                <a:lnTo>
                  <a:pt x="529" y="285"/>
                </a:lnTo>
                <a:lnTo>
                  <a:pt x="522" y="287"/>
                </a:lnTo>
                <a:lnTo>
                  <a:pt x="522" y="287"/>
                </a:lnTo>
                <a:close/>
                <a:moveTo>
                  <a:pt x="470" y="248"/>
                </a:moveTo>
                <a:lnTo>
                  <a:pt x="470" y="248"/>
                </a:lnTo>
                <a:lnTo>
                  <a:pt x="470" y="254"/>
                </a:lnTo>
                <a:lnTo>
                  <a:pt x="467" y="257"/>
                </a:lnTo>
                <a:lnTo>
                  <a:pt x="461" y="261"/>
                </a:lnTo>
                <a:lnTo>
                  <a:pt x="456" y="263"/>
                </a:lnTo>
                <a:lnTo>
                  <a:pt x="456" y="263"/>
                </a:lnTo>
                <a:lnTo>
                  <a:pt x="450" y="261"/>
                </a:lnTo>
                <a:lnTo>
                  <a:pt x="446" y="257"/>
                </a:lnTo>
                <a:lnTo>
                  <a:pt x="443" y="254"/>
                </a:lnTo>
                <a:lnTo>
                  <a:pt x="443" y="248"/>
                </a:lnTo>
                <a:lnTo>
                  <a:pt x="443" y="248"/>
                </a:lnTo>
                <a:lnTo>
                  <a:pt x="443" y="243"/>
                </a:lnTo>
                <a:lnTo>
                  <a:pt x="446" y="237"/>
                </a:lnTo>
                <a:lnTo>
                  <a:pt x="450" y="235"/>
                </a:lnTo>
                <a:lnTo>
                  <a:pt x="456" y="234"/>
                </a:lnTo>
                <a:lnTo>
                  <a:pt x="456" y="234"/>
                </a:lnTo>
                <a:lnTo>
                  <a:pt x="461" y="235"/>
                </a:lnTo>
                <a:lnTo>
                  <a:pt x="467" y="237"/>
                </a:lnTo>
                <a:lnTo>
                  <a:pt x="470" y="243"/>
                </a:lnTo>
                <a:lnTo>
                  <a:pt x="470" y="248"/>
                </a:lnTo>
                <a:lnTo>
                  <a:pt x="470" y="248"/>
                </a:lnTo>
                <a:close/>
                <a:moveTo>
                  <a:pt x="470" y="248"/>
                </a:moveTo>
                <a:lnTo>
                  <a:pt x="470" y="248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Freeform 175">
            <a:extLst xmlns:a="http://schemas.openxmlformats.org/drawingml/2006/main">
              <a:ext uri="{FF2B5EF4-FFF2-40B4-BE49-F238E27FC236}">
                <a16:creationId xmlns:a16="http://schemas.microsoft.com/office/drawing/2014/main" id="{71B56581-FB39-4269-814E-0421714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8680" y="2640600"/>
            <a:ext cx="483840" cy="483840"/>
          </a:xfrm>
          <a:custGeom xmlns:a="http://schemas.openxmlformats.org/drawingml/2006/main">
            <a:gdLst>
              <a:gd name="textAreaLeft" fmla="*/ 0 w 483840"/>
              <a:gd name="textAreaRight" fmla="*/ 484200 w 483840"/>
              <a:gd name="textAreaTop" fmla="*/ 0 h 483840"/>
              <a:gd name="textAreaBottom" fmla="*/ 484200 h 483840"/>
              <a:gd name="GluePoint1X" fmla="*/ 0 w 232"/>
              <a:gd name="GluePoint1Y" fmla="*/ 232 h 232"/>
              <a:gd name="GluePoint2X" fmla="*/ 24 w 232"/>
              <a:gd name="GluePoint2Y" fmla="*/ 139 h 232"/>
              <a:gd name="GluePoint3X" fmla="*/ 163 w 232"/>
              <a:gd name="GluePoint3Y" fmla="*/ 0 h 232"/>
              <a:gd name="GluePoint4X" fmla="*/ 232 w 232"/>
              <a:gd name="GluePoint4Y" fmla="*/ 68 h 232"/>
              <a:gd name="GluePoint5X" fmla="*/ 92 w 232"/>
              <a:gd name="GluePoint5Y" fmla="*/ 208 h 232"/>
              <a:gd name="GluePoint6X" fmla="*/ 0 w 232"/>
              <a:gd name="GluePoint6Y" fmla="*/ 232 h 232"/>
              <a:gd name="GluePoint7X" fmla="*/ 38 w 232"/>
              <a:gd name="GluePoint7Y" fmla="*/ 149 h 232"/>
              <a:gd name="GluePoint8X" fmla="*/ 24 w 232"/>
              <a:gd name="GluePoint8Y" fmla="*/ 208 h 232"/>
              <a:gd name="GluePoint9X" fmla="*/ 83 w 232"/>
              <a:gd name="GluePoint9Y" fmla="*/ 194 h 232"/>
              <a:gd name="GluePoint10X" fmla="*/ 208 w 232"/>
              <a:gd name="GluePoint10Y" fmla="*/ 68 h 232"/>
              <a:gd name="GluePoint11X" fmla="*/ 163 w 232"/>
              <a:gd name="GluePoint11Y" fmla="*/ 23 h 232"/>
              <a:gd name="GluePoint12X" fmla="*/ 38 w 232"/>
              <a:gd name="GluePoint12Y" fmla="*/ 149 h 232"/>
            </a:gdLst>
            <a:rect l="textAreaLeft" t="textAreaTop" r="textAreaRight" b="textAreaBottom"/>
            <a:pathLst>
              <a:path w="232" h="232">
                <a:moveTo>
                  <a:pt x="0" y="232"/>
                </a:moveTo>
                <a:lnTo>
                  <a:pt x="24" y="139"/>
                </a:lnTo>
                <a:lnTo>
                  <a:pt x="163" y="0"/>
                </a:lnTo>
                <a:lnTo>
                  <a:pt x="232" y="68"/>
                </a:lnTo>
                <a:lnTo>
                  <a:pt x="92" y="208"/>
                </a:lnTo>
                <a:lnTo>
                  <a:pt x="0" y="232"/>
                </a:lnTo>
                <a:close/>
                <a:moveTo>
                  <a:pt x="38" y="149"/>
                </a:moveTo>
                <a:lnTo>
                  <a:pt x="24" y="208"/>
                </a:lnTo>
                <a:lnTo>
                  <a:pt x="83" y="194"/>
                </a:lnTo>
                <a:lnTo>
                  <a:pt x="208" y="68"/>
                </a:lnTo>
                <a:lnTo>
                  <a:pt x="163" y="23"/>
                </a:lnTo>
                <a:lnTo>
                  <a:pt x="38" y="149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Freeform 176">
            <a:extLst xmlns:a="http://schemas.openxmlformats.org/drawingml/2006/main">
              <a:ext uri="{FF2B5EF4-FFF2-40B4-BE49-F238E27FC236}">
                <a16:creationId xmlns:a16="http://schemas.microsoft.com/office/drawing/2014/main" id="{4AD9A2E6-4AC7-4AF4-AD96-4A0269FB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7000" y="2926800"/>
            <a:ext cx="139680" cy="137520"/>
          </a:xfrm>
          <a:custGeom xmlns:a="http://schemas.openxmlformats.org/drawingml/2006/main">
            <a:gdLst>
              <a:gd name="textAreaLeft" fmla="*/ 0 w 139680"/>
              <a:gd name="textAreaRight" fmla="*/ 140040 w 139680"/>
              <a:gd name="textAreaTop" fmla="*/ 0 h 137520"/>
              <a:gd name="textAreaBottom" fmla="*/ 137880 h 137520"/>
              <a:gd name="GluePoint1X" fmla="*/ 20 w 28"/>
              <a:gd name="GluePoint1Y" fmla="*/ 28 h 28"/>
              <a:gd name="GluePoint2X" fmla="*/ 0 w 28"/>
              <a:gd name="GluePoint2Y" fmla="*/ 8 h 28"/>
              <a:gd name="GluePoint3X" fmla="*/ 2 w 28"/>
              <a:gd name="GluePoint3Y" fmla="*/ 0 h 28"/>
              <a:gd name="GluePoint4X" fmla="*/ 28 w 28"/>
              <a:gd name="GluePoint4Y" fmla="*/ 26 h 28"/>
              <a:gd name="GluePoint5X" fmla="*/ 20 w 28"/>
              <a:gd name="GluePoint5Y" fmla="*/ 28 h 28"/>
            </a:gdLst>
            <a:rect l="textAreaLeft" t="textAreaTop" r="textAreaRight" b="textAreaBottom"/>
            <a:pathLst>
              <a:path w="28" h="28">
                <a:moveTo>
                  <a:pt x="20" y="28"/>
                </a:moveTo>
                <a:cubicBezTo>
                  <a:pt x="18" y="18"/>
                  <a:pt x="10" y="10"/>
                  <a:pt x="0" y="8"/>
                </a:cubicBezTo>
                <a:cubicBezTo>
                  <a:pt x="2" y="0"/>
                  <a:pt x="2" y="0"/>
                  <a:pt x="2" y="0"/>
                </a:cubicBezTo>
                <a:cubicBezTo>
                  <a:pt x="14" y="4"/>
                  <a:pt x="24" y="14"/>
                  <a:pt x="28" y="26"/>
                </a:cubicBezTo>
                <a:lnTo>
                  <a:pt x="20" y="28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2920" rIns="529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" name="Freeform 177">
            <a:extLst xmlns:a="http://schemas.openxmlformats.org/drawingml/2006/main">
              <a:ext uri="{FF2B5EF4-FFF2-40B4-BE49-F238E27FC236}">
                <a16:creationId xmlns:a16="http://schemas.microsoft.com/office/drawing/2014/main" id="{618EC95F-FA52-4D8A-8F96-B57AC22F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7920" y="2709360"/>
            <a:ext cx="285840" cy="285840"/>
          </a:xfrm>
          <a:custGeom xmlns:a="http://schemas.openxmlformats.org/drawingml/2006/main">
            <a:gdLst>
              <a:gd name="textAreaLeft" fmla="*/ 0 w 285840"/>
              <a:gd name="textAreaRight" fmla="*/ 286200 w 285840"/>
              <a:gd name="textAreaTop" fmla="*/ 0 h 285840"/>
              <a:gd name="textAreaBottom" fmla="*/ 286200 h 285840"/>
              <a:gd name="GluePoint1X" fmla="*/ 14 w 137"/>
              <a:gd name="GluePoint1Y" fmla="*/ 137 h 137"/>
              <a:gd name="GluePoint2X" fmla="*/ 0 w 137"/>
              <a:gd name="GluePoint2Y" fmla="*/ 123 h 137"/>
              <a:gd name="GluePoint3X" fmla="*/ 123 w 137"/>
              <a:gd name="GluePoint3Y" fmla="*/ 0 h 137"/>
              <a:gd name="GluePoint4X" fmla="*/ 137 w 137"/>
              <a:gd name="GluePoint4Y" fmla="*/ 14 h 137"/>
              <a:gd name="GluePoint5X" fmla="*/ 14 w 137"/>
              <a:gd name="GluePoint5Y" fmla="*/ 137 h 137"/>
            </a:gdLst>
            <a:rect l="textAreaLeft" t="textAreaTop" r="textAreaRight" b="textAreaBottom"/>
            <a:pathLst>
              <a:path w="137" h="137">
                <a:moveTo>
                  <a:pt x="14" y="137"/>
                </a:moveTo>
                <a:lnTo>
                  <a:pt x="0" y="123"/>
                </a:lnTo>
                <a:lnTo>
                  <a:pt x="123" y="0"/>
                </a:lnTo>
                <a:lnTo>
                  <a:pt x="137" y="14"/>
                </a:lnTo>
                <a:lnTo>
                  <a:pt x="14" y="137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" name="Freeform 178">
            <a:extLst xmlns:a="http://schemas.openxmlformats.org/drawingml/2006/main">
              <a:ext uri="{FF2B5EF4-FFF2-40B4-BE49-F238E27FC236}">
                <a16:creationId xmlns:a16="http://schemas.microsoft.com/office/drawing/2014/main" id="{E3779FDD-2664-49D0-8AD5-907BBE37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3520" y="3039480"/>
            <a:ext cx="57960" cy="60120"/>
          </a:xfrm>
          <a:custGeom xmlns:a="http://schemas.openxmlformats.org/drawingml/2006/main">
            <a:gdLst>
              <a:gd name="textAreaLeft" fmla="*/ 0 w 57960"/>
              <a:gd name="textAreaRight" fmla="*/ 58320 w 57960"/>
              <a:gd name="textAreaTop" fmla="*/ 0 h 60120"/>
              <a:gd name="textAreaBottom" fmla="*/ 60480 h 60120"/>
              <a:gd name="GluePoint1X" fmla="*/ 0 w 12"/>
              <a:gd name="GluePoint1Y" fmla="*/ 12 h 12"/>
              <a:gd name="GluePoint2X" fmla="*/ 12 w 12"/>
              <a:gd name="GluePoint2Y" fmla="*/ 9 h 12"/>
              <a:gd name="GluePoint3X" fmla="*/ 3 w 12"/>
              <a:gd name="GluePoint3Y" fmla="*/ 0 h 12"/>
              <a:gd name="GluePoint4X" fmla="*/ 0 w 12"/>
              <a:gd name="GluePoint4Y" fmla="*/ 12 h 12"/>
            </a:gdLst>
            <a:rect l="textAreaLeft" t="textAreaTop" r="textAreaRight" b="textAreaBottom"/>
            <a:pathLst>
              <a:path w="12" h="12">
                <a:moveTo>
                  <a:pt x="0" y="12"/>
                </a:moveTo>
                <a:cubicBezTo>
                  <a:pt x="12" y="9"/>
                  <a:pt x="12" y="9"/>
                  <a:pt x="12" y="9"/>
                </a:cubicBezTo>
                <a:cubicBezTo>
                  <a:pt x="11" y="5"/>
                  <a:pt x="7" y="1"/>
                  <a:pt x="3" y="0"/>
                </a:cubicBezTo>
                <a:lnTo>
                  <a:pt x="0" y="12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960" tIns="30240" rIns="21960" bIns="302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Freeform 179">
            <a:extLst xmlns:a="http://schemas.openxmlformats.org/drawingml/2006/main">
              <a:ext uri="{FF2B5EF4-FFF2-40B4-BE49-F238E27FC236}">
                <a16:creationId xmlns:a16="http://schemas.microsoft.com/office/drawing/2014/main" id="{F89A777B-0F9E-4B10-A3B8-86A2110D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3280" y="2565360"/>
            <a:ext cx="204120" cy="202320"/>
          </a:xfrm>
          <a:custGeom xmlns:a="http://schemas.openxmlformats.org/drawingml/2006/main">
            <a:gdLst>
              <a:gd name="textAreaLeft" fmla="*/ 0 w 204120"/>
              <a:gd name="textAreaRight" fmla="*/ 204480 w 204120"/>
              <a:gd name="textAreaTop" fmla="*/ 0 h 202320"/>
              <a:gd name="textAreaBottom" fmla="*/ 202680 h 202320"/>
              <a:gd name="GluePoint1X" fmla="*/ 29 w 41"/>
              <a:gd name="GluePoint1Y" fmla="*/ 41 h 41"/>
              <a:gd name="GluePoint2X" fmla="*/ 0 w 41"/>
              <a:gd name="GluePoint2Y" fmla="*/ 12 h 41"/>
              <a:gd name="GluePoint3X" fmla="*/ 11 w 41"/>
              <a:gd name="GluePoint3Y" fmla="*/ 0 h 41"/>
              <a:gd name="GluePoint4X" fmla="*/ 13 w 41"/>
              <a:gd name="GluePoint4Y" fmla="*/ 1 h 41"/>
              <a:gd name="GluePoint5X" fmla="*/ 40 w 41"/>
              <a:gd name="GluePoint5Y" fmla="*/ 28 h 41"/>
              <a:gd name="GluePoint6X" fmla="*/ 41 w 41"/>
              <a:gd name="GluePoint6Y" fmla="*/ 30 h 41"/>
              <a:gd name="GluePoint7X" fmla="*/ 29 w 41"/>
              <a:gd name="GluePoint7Y" fmla="*/ 41 h 41"/>
              <a:gd name="GluePoint8X" fmla="*/ 10 w 41"/>
              <a:gd name="GluePoint8Y" fmla="*/ 12 h 41"/>
              <a:gd name="GluePoint9X" fmla="*/ 29 w 41"/>
              <a:gd name="GluePoint9Y" fmla="*/ 31 h 41"/>
              <a:gd name="GluePoint10X" fmla="*/ 33 w 41"/>
              <a:gd name="GluePoint10Y" fmla="*/ 27 h 41"/>
              <a:gd name="GluePoint11X" fmla="*/ 14 w 41"/>
              <a:gd name="GluePoint11Y" fmla="*/ 8 h 41"/>
              <a:gd name="GluePoint12X" fmla="*/ 10 w 41"/>
              <a:gd name="GluePoint12Y" fmla="*/ 12 h 41"/>
            </a:gdLst>
            <a:rect l="textAreaLeft" t="textAreaTop" r="textAreaRight" b="textAreaBottom"/>
            <a:pathLst>
              <a:path w="41" h="41">
                <a:moveTo>
                  <a:pt x="29" y="41"/>
                </a:moveTo>
                <a:cubicBezTo>
                  <a:pt x="0" y="12"/>
                  <a:pt x="0" y="12"/>
                  <a:pt x="0" y="12"/>
                </a:cubicBezTo>
                <a:cubicBezTo>
                  <a:pt x="11" y="0"/>
                  <a:pt x="11" y="0"/>
                  <a:pt x="11" y="0"/>
                </a:cubicBezTo>
                <a:cubicBezTo>
                  <a:pt x="13" y="1"/>
                  <a:pt x="13" y="1"/>
                  <a:pt x="13" y="1"/>
                </a:cubicBezTo>
                <a:cubicBezTo>
                  <a:pt x="27" y="2"/>
                  <a:pt x="39" y="14"/>
                  <a:pt x="40" y="28"/>
                </a:cubicBezTo>
                <a:cubicBezTo>
                  <a:pt x="41" y="30"/>
                  <a:pt x="41" y="30"/>
                  <a:pt x="41" y="30"/>
                </a:cubicBezTo>
                <a:lnTo>
                  <a:pt x="29" y="41"/>
                </a:lnTo>
                <a:close/>
                <a:moveTo>
                  <a:pt x="10" y="12"/>
                </a:moveTo>
                <a:cubicBezTo>
                  <a:pt x="29" y="31"/>
                  <a:pt x="29" y="31"/>
                  <a:pt x="29" y="31"/>
                </a:cubicBezTo>
                <a:cubicBezTo>
                  <a:pt x="33" y="27"/>
                  <a:pt x="33" y="27"/>
                  <a:pt x="33" y="27"/>
                </a:cubicBezTo>
                <a:cubicBezTo>
                  <a:pt x="31" y="18"/>
                  <a:pt x="23" y="10"/>
                  <a:pt x="14" y="8"/>
                </a:cubicBezTo>
                <a:lnTo>
                  <a:pt x="10" y="12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7760" rIns="7776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" name="TextBox 7">
            <a:extLst xmlns:a="http://schemas.openxmlformats.org/drawingml/2006/main">
              <a:ext uri="{FF2B5EF4-FFF2-40B4-BE49-F238E27FC236}">
                <a16:creationId xmlns:a16="http://schemas.microsoft.com/office/drawing/2014/main" id="{E9B7EEB5-CCBA-46FF-9429-605E68FD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" y="3723840"/>
            <a:ext cx="2752560" cy="164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1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账户与支付</a:t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开户、转账、收款与资金闭环</a:t>
            </a:r>
          </a:p>
        </p:txBody>
      </p:sp>
      <p:sp>
        <p:nvSpPr>
          <p:cNvPr id="72" name="TextBox 29">
            <a:extLst xmlns:a="http://schemas.openxmlformats.org/drawingml/2006/main">
              <a:ext uri="{FF2B5EF4-FFF2-40B4-BE49-F238E27FC236}">
                <a16:creationId xmlns:a16="http://schemas.microsoft.com/office/drawing/2014/main" id="{7B2AEDFB-9269-43A9-9A7C-C077C6B3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960" y="3723840"/>
            <a:ext cx="2752560" cy="138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1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产品与经营</a:t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存款、信贷与客户经营</a:t>
            </a:r>
          </a:p>
        </p:txBody>
      </p:sp>
      <p:sp>
        <p:nvSpPr>
          <p:cNvPr id="73" name="TextBox 30">
            <a:extLst xmlns:a="http://schemas.openxmlformats.org/drawingml/2006/main">
              <a:ext uri="{FF2B5EF4-FFF2-40B4-BE49-F238E27FC236}">
                <a16:creationId xmlns:a16="http://schemas.microsoft.com/office/drawing/2014/main" id="{5E00A4FD-7D5B-4AFF-BBC6-57A3B373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600" y="3723840"/>
            <a:ext cx="2752560" cy="164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1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数据与风控</a:t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身份、设备、行为与决策</a:t>
            </a:r>
          </a:p>
        </p:txBody>
      </p:sp>
      <p:sp>
        <p:nvSpPr>
          <p:cNvPr id="74" name="TextBox 31">
            <a:extLst xmlns:a="http://schemas.openxmlformats.org/drawingml/2006/main">
              <a:ext uri="{FF2B5EF4-FFF2-40B4-BE49-F238E27FC236}">
                <a16:creationId xmlns:a16="http://schemas.microsoft.com/office/drawing/2014/main" id="{62F47C6D-32AF-48A7-A7BF-95B14C00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60" y="3723840"/>
            <a:ext cx="2752560" cy="164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1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渠道与生态</a:t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defTabSz="914400">
              <a:lnSpc>
                <a:spcPct val="120000"/>
              </a:lnSpc>
              <a:buNone/>
              <a:defRPr>
                <a:solidFill>
                  <a:srgbClr val="17201D"/>
                </a:solidFill>
              </a:defRPr>
            </a:pPr>
            <a:r>
              <a:rPr sz="14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手机入口、门店与合作伙伴</a:t>
            </a:r>
          </a:p>
        </p:txBody>
      </p:sp>
      <p:sp>
        <p:nvSpPr>
          <p:cNvPr id="75" name="Mint page marker line 6">
            <a:extLst xmlns:a="http://schemas.openxmlformats.org/drawingml/2006/main">
              <a:ext uri="{FF2B5EF4-FFF2-40B4-BE49-F238E27FC236}">
                <a16:creationId xmlns:a16="http://schemas.microsoft.com/office/drawing/2014/main" id="{EB3EC4C9-12E4-49F4-8307-8D4CABC4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Mint page number 6">
            <a:extLst xmlns:a="http://schemas.openxmlformats.org/drawingml/2006/main">
              <a:ext uri="{FF2B5EF4-FFF2-40B4-BE49-F238E27FC236}">
                <a16:creationId xmlns:a16="http://schemas.microsoft.com/office/drawing/2014/main" id="{7DC2A542-1089-4ABF-BDBD-27A8813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8135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2763078-E739-41D7-A439-F6966F2A4DCA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57200" y="1338840"/>
            <a:ext cx="4343040" cy="483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图表应回答一个明确问题，并在左侧写出结论。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绿色：核心业务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橙色：增长业务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蓝色：支撑业务</a:t>
            </a:r>
          </a:p>
        </p:txBody>
      </p:sp>
      <p:sp>
        <p:nvSpPr>
          <p:cNvPr id="7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2BF7BD2-8CF8-4EA1-BDDB-29C041D732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正文 + 结构占比图</a:t>
            </a:r>
          </a:p>
        </p:txBody>
      </p:sp>
      <p:graphicFrame>
        <p:nvGraphicFramePr>
          <p:cNvPr id="83" name="Content Placeholder 4"/>
          <p:cNvGraphicFramePr/>
          <p:nvPr/>
        </p:nvGraphicFramePr>
        <p:xfrm>
          <a:off xmlns:a="http://schemas.openxmlformats.org/drawingml/2006/main" x="5018040" y="1338120"/>
          <a:ext xmlns:a="http://schemas.openxmlformats.org/drawingml/2006/main" cx="6716520" cy="48337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9fd5bec129497a"/>
          </a:graphicData>
        </a:graphic>
      </p:graphicFrame>
      <p:sp>
        <p:nvSpPr>
          <p:cNvPr id="79" name="Mint page marker line 7">
            <a:extLst xmlns:a="http://schemas.openxmlformats.org/drawingml/2006/main">
              <a:ext uri="{FF2B5EF4-FFF2-40B4-BE49-F238E27FC236}">
                <a16:creationId xmlns:a16="http://schemas.microsoft.com/office/drawing/2014/main" id="{DF0132D3-75E5-4946-BF8A-60F3DE7F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Mint page number 7">
            <a:extLst xmlns:a="http://schemas.openxmlformats.org/drawingml/2006/main">
              <a:ext uri="{FF2B5EF4-FFF2-40B4-BE49-F238E27FC236}">
                <a16:creationId xmlns:a16="http://schemas.microsoft.com/office/drawing/2014/main" id="{FC4A6E35-E678-4224-89BB-8DB4291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9424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90" name="Content Placeholder 8"/>
          <p:cNvGraphicFramePr/>
          <p:nvPr/>
        </p:nvGraphicFramePr>
        <p:xfrm>
          <a:off xmlns:a="http://schemas.openxmlformats.org/drawingml/2006/main" x="5018040" y="1338120"/>
          <a:ext xmlns:a="http://schemas.openxmlformats.org/drawingml/2006/main" cx="6730560" cy="46461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8cfdf337014b97"/>
          </a:graphicData>
        </a:graphic>
      </p:graphicFrame>
      <p:sp>
        <p:nvSpPr>
          <p:cNvPr id="8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CCDA331-F18C-4AF2-80E4-1A4CD23E4B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结构占比与关键结论</a:t>
            </a:r>
          </a:p>
        </p:txBody>
      </p:sp>
      <p:sp>
        <p:nvSpPr>
          <p:cNvPr id="82" name="TextBox 4">
            <a:extLst xmlns:a="http://schemas.openxmlformats.org/drawingml/2006/main">
              <a:ext uri="{FF2B5EF4-FFF2-40B4-BE49-F238E27FC236}">
                <a16:creationId xmlns:a16="http://schemas.microsoft.com/office/drawing/2014/main" id="{BB2B3197-BAED-4184-87F4-3C2280B7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3528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defRPr sz="2100" b="1">
                <a:solidFill>
                  <a:srgbClr val="12695D"/>
                </a:solidFill>
              </a:defRPr>
            </a:pPr>
            <a:r>
              <a:rPr sz="21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42%</a:t>
            </a:r>
          </a:p>
        </p:txBody>
      </p:sp>
      <p:sp>
        <p:nvSpPr>
          <p:cNvPr id="8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A27EC1B-5CDD-49C8-9DE0-2B98A1FF402E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57200" y="1338840"/>
            <a:ext cx="4343040" cy="483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该版式适合展示构成、渠道占比或资源分配。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最大项：账户与支付 42%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解释差异原因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给出经营含义</a:t>
            </a:r>
          </a:p>
        </p:txBody>
      </p:sp>
      <p:sp>
        <p:nvSpPr>
          <p:cNvPr id="88" name="Mint page marker line 8">
            <a:extLst xmlns:a="http://schemas.openxmlformats.org/drawingml/2006/main">
              <a:ext uri="{FF2B5EF4-FFF2-40B4-BE49-F238E27FC236}">
                <a16:creationId xmlns:a16="http://schemas.microsoft.com/office/drawing/2014/main" id="{31FCD159-D36F-4B94-A0F4-05FEB6B1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Mint page number 8">
            <a:extLst xmlns:a="http://schemas.openxmlformats.org/drawingml/2006/main">
              <a:ext uri="{FF2B5EF4-FFF2-40B4-BE49-F238E27FC236}">
                <a16:creationId xmlns:a16="http://schemas.microsoft.com/office/drawing/2014/main" id="{D5C0432B-ECE7-4590-ACD5-3B6AE32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7972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6789A6A-8719-4920-9708-F262202CB4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四步闭环 / Four-step cycle</a:t>
            </a:r>
          </a:p>
        </p:txBody>
      </p:sp>
      <p:sp>
        <p:nvSpPr>
          <p:cNvPr id="90" name="Freeform 5">
            <a:extLst xmlns:a="http://schemas.openxmlformats.org/drawingml/2006/main">
              <a:ext uri="{FF2B5EF4-FFF2-40B4-BE49-F238E27FC236}">
                <a16:creationId xmlns:a16="http://schemas.microsoft.com/office/drawing/2014/main" id="{3BC9A5FA-E652-43C5-A071-85DFF9DF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1720" y="2969280"/>
            <a:ext cx="1960560" cy="2352600"/>
          </a:xfrm>
          <a:custGeom xmlns:a="http://schemas.openxmlformats.org/drawingml/2006/main">
            <a:gdLst>
              <a:gd name="textAreaLeft" fmla="*/ 0 w 1960560"/>
              <a:gd name="textAreaRight" fmla="*/ 1960920 w 1960560"/>
              <a:gd name="textAreaTop" fmla="*/ 0 h 2352600"/>
              <a:gd name="textAreaBottom" fmla="*/ 2352960 h 2352600"/>
              <a:gd name="GluePoint1X" fmla="*/ 248 w 0"/>
              <a:gd name="GluePoint1Y" fmla="*/ 158 h 0"/>
              <a:gd name="GluePoint2X" fmla="*/ 248 w 0"/>
              <a:gd name="GluePoint2Y" fmla="*/ 160 h 0"/>
              <a:gd name="GluePoint3X" fmla="*/ 250 w 0"/>
              <a:gd name="GluePoint3Y" fmla="*/ 192 h 0"/>
              <a:gd name="GluePoint4X" fmla="*/ 321 w 0"/>
              <a:gd name="GluePoint4Y" fmla="*/ 335 h 0"/>
              <a:gd name="GluePoint5X" fmla="*/ 437 w 0"/>
              <a:gd name="GluePoint5Y" fmla="*/ 401 h 0"/>
              <a:gd name="GluePoint6X" fmla="*/ 496 w 0"/>
              <a:gd name="GluePoint6Y" fmla="*/ 408 h 0"/>
              <a:gd name="GluePoint7X" fmla="*/ 496 w 0"/>
              <a:gd name="GluePoint7Y" fmla="*/ 595 h 0"/>
              <a:gd name="GluePoint8X" fmla="*/ 430 w 0"/>
              <a:gd name="GluePoint8Y" fmla="*/ 591 h 0"/>
              <a:gd name="GluePoint9X" fmla="*/ 189 w 0"/>
              <a:gd name="GluePoint9Y" fmla="*/ 468 h 0"/>
              <a:gd name="GluePoint10X" fmla="*/ 62 w 0"/>
              <a:gd name="GluePoint10Y" fmla="*/ 192 h 0"/>
              <a:gd name="GluePoint11X" fmla="*/ 61 w 0"/>
              <a:gd name="GluePoint11Y" fmla="*/ 160 h 0"/>
              <a:gd name="GluePoint12X" fmla="*/ 61 w 0"/>
              <a:gd name="GluePoint12Y" fmla="*/ 158 h 0"/>
              <a:gd name="GluePoint13X" fmla="*/ 0 w 0"/>
              <a:gd name="GluePoint13Y" fmla="*/ 158 h 0"/>
              <a:gd name="GluePoint14X" fmla="*/ 157 w 0"/>
              <a:gd name="GluePoint14Y" fmla="*/ 0 h 0"/>
              <a:gd name="GluePoint15X" fmla="*/ 313 w 0"/>
              <a:gd name="GluePoint15Y" fmla="*/ 158 h 0"/>
              <a:gd name="GluePoint16X" fmla="*/ 248 w 0"/>
              <a:gd name="GluePoint16Y" fmla="*/ 158 h 0"/>
            </a:gdLst>
            <a:rect l="textAreaLeft" t="textAreaTop" r="textAreaRight" b="textAreaBottom"/>
            <a:pathLst>
              <a:path w="496" h="595">
                <a:moveTo>
                  <a:pt x="248" y="158"/>
                </a:moveTo>
                <a:cubicBezTo>
                  <a:pt x="248" y="158"/>
                  <a:pt x="248" y="159"/>
                  <a:pt x="248" y="160"/>
                </a:cubicBezTo>
                <a:cubicBezTo>
                  <a:pt x="248" y="171"/>
                  <a:pt x="249" y="182"/>
                  <a:pt x="250" y="192"/>
                </a:cubicBezTo>
                <a:cubicBezTo>
                  <a:pt x="257" y="247"/>
                  <a:pt x="281" y="295"/>
                  <a:pt x="321" y="335"/>
                </a:cubicBezTo>
                <a:cubicBezTo>
                  <a:pt x="355" y="369"/>
                  <a:pt x="393" y="391"/>
                  <a:pt x="437" y="401"/>
                </a:cubicBezTo>
                <a:cubicBezTo>
                  <a:pt x="456" y="406"/>
                  <a:pt x="475" y="408"/>
                  <a:pt x="496" y="408"/>
                </a:cubicBezTo>
                <a:cubicBezTo>
                  <a:pt x="496" y="595"/>
                  <a:pt x="496" y="595"/>
                  <a:pt x="496" y="595"/>
                </a:cubicBezTo>
                <a:cubicBezTo>
                  <a:pt x="474" y="595"/>
                  <a:pt x="452" y="594"/>
                  <a:pt x="430" y="591"/>
                </a:cubicBezTo>
                <a:cubicBezTo>
                  <a:pt x="338" y="578"/>
                  <a:pt x="258" y="537"/>
                  <a:pt x="189" y="468"/>
                </a:cubicBezTo>
                <a:cubicBezTo>
                  <a:pt x="112" y="390"/>
                  <a:pt x="69" y="299"/>
                  <a:pt x="62" y="192"/>
                </a:cubicBezTo>
                <a:cubicBezTo>
                  <a:pt x="61" y="182"/>
                  <a:pt x="61" y="171"/>
                  <a:pt x="61" y="160"/>
                </a:cubicBezTo>
                <a:cubicBezTo>
                  <a:pt x="61" y="159"/>
                  <a:pt x="61" y="158"/>
                  <a:pt x="61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157" y="0"/>
                  <a:pt x="157" y="0"/>
                  <a:pt x="157" y="0"/>
                </a:cubicBezTo>
                <a:cubicBezTo>
                  <a:pt x="313" y="158"/>
                  <a:pt x="313" y="158"/>
                  <a:pt x="313" y="158"/>
                </a:cubicBezTo>
                <a:lnTo>
                  <a:pt x="248" y="158"/>
                </a:lnTo>
                <a:close/>
              </a:path>
            </a:pathLst>
          </a:custGeom>
          <a:solidFill xmlns:a="http://schemas.openxmlformats.org/drawingml/2006/main">
            <a:srgbClr val="43B36D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Freeform 6">
            <a:extLst xmlns:a="http://schemas.openxmlformats.org/drawingml/2006/main">
              <a:ext uri="{FF2B5EF4-FFF2-40B4-BE49-F238E27FC236}">
                <a16:creationId xmlns:a16="http://schemas.microsoft.com/office/drawing/2014/main" id="{04C220A5-3D5D-498E-B0B2-BFBE0D7B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0120" y="3593160"/>
            <a:ext cx="2359440" cy="1965600"/>
          </a:xfrm>
          <a:custGeom xmlns:a="http://schemas.openxmlformats.org/drawingml/2006/main">
            <a:gdLst>
              <a:gd name="textAreaLeft" fmla="*/ 0 w 2359440"/>
              <a:gd name="textAreaRight" fmla="*/ 2359800 w 2359440"/>
              <a:gd name="textAreaTop" fmla="*/ 0 h 1965600"/>
              <a:gd name="textAreaBottom" fmla="*/ 1965960 h 1965600"/>
              <a:gd name="GluePoint1X" fmla="*/ 403 w 0"/>
              <a:gd name="GluePoint1Y" fmla="*/ 61 h 0"/>
              <a:gd name="GluePoint2X" fmla="*/ 410 w 0"/>
              <a:gd name="GluePoint2Y" fmla="*/ 2 h 0"/>
              <a:gd name="GluePoint3X" fmla="*/ 410 w 0"/>
              <a:gd name="GluePoint3Y" fmla="*/ 0 h 0"/>
              <a:gd name="GluePoint4X" fmla="*/ 597 w 0"/>
              <a:gd name="GluePoint4Y" fmla="*/ 0 h 0"/>
              <a:gd name="GluePoint5X" fmla="*/ 597 w 0"/>
              <a:gd name="GluePoint5Y" fmla="*/ 2 h 0"/>
              <a:gd name="GluePoint6X" fmla="*/ 592 w 0"/>
              <a:gd name="GluePoint6Y" fmla="*/ 68 h 0"/>
              <a:gd name="GluePoint7X" fmla="*/ 469 w 0"/>
              <a:gd name="GluePoint7Y" fmla="*/ 310 h 0"/>
              <a:gd name="GluePoint8X" fmla="*/ 161 w 0"/>
              <a:gd name="GluePoint8Y" fmla="*/ 437 h 0"/>
              <a:gd name="GluePoint9X" fmla="*/ 160 w 0"/>
              <a:gd name="GluePoint9Y" fmla="*/ 437 h 0"/>
              <a:gd name="GluePoint10X" fmla="*/ 160 w 0"/>
              <a:gd name="GluePoint10Y" fmla="*/ 497 h 0"/>
              <a:gd name="GluePoint11X" fmla="*/ 0 w 0"/>
              <a:gd name="GluePoint11Y" fmla="*/ 341 h 0"/>
              <a:gd name="GluePoint12X" fmla="*/ 160 w 0"/>
              <a:gd name="GluePoint12Y" fmla="*/ 185 h 0"/>
              <a:gd name="GluePoint13X" fmla="*/ 160 w 0"/>
              <a:gd name="GluePoint13Y" fmla="*/ 250 h 0"/>
              <a:gd name="GluePoint14X" fmla="*/ 161 w 0"/>
              <a:gd name="GluePoint14Y" fmla="*/ 250 h 0"/>
              <a:gd name="GluePoint15X" fmla="*/ 337 w 0"/>
              <a:gd name="GluePoint15Y" fmla="*/ 177 h 0"/>
              <a:gd name="GluePoint16X" fmla="*/ 403 w 0"/>
              <a:gd name="GluePoint16Y" fmla="*/ 61 h 0"/>
            </a:gdLst>
            <a:rect l="textAreaLeft" t="textAreaTop" r="textAreaRight" b="textAreaBottom"/>
            <a:pathLst>
              <a:path w="597" h="497">
                <a:moveTo>
                  <a:pt x="403" y="61"/>
                </a:moveTo>
                <a:cubicBezTo>
                  <a:pt x="408" y="42"/>
                  <a:pt x="410" y="22"/>
                  <a:pt x="410" y="2"/>
                </a:cubicBezTo>
                <a:cubicBezTo>
                  <a:pt x="410" y="1"/>
                  <a:pt x="410" y="0"/>
                  <a:pt x="410" y="0"/>
                </a:cubicBezTo>
                <a:cubicBezTo>
                  <a:pt x="597" y="0"/>
                  <a:pt x="597" y="0"/>
                  <a:pt x="597" y="0"/>
                </a:cubicBezTo>
                <a:cubicBezTo>
                  <a:pt x="597" y="0"/>
                  <a:pt x="597" y="1"/>
                  <a:pt x="597" y="2"/>
                </a:cubicBezTo>
                <a:cubicBezTo>
                  <a:pt x="597" y="24"/>
                  <a:pt x="595" y="46"/>
                  <a:pt x="592" y="68"/>
                </a:cubicBezTo>
                <a:cubicBezTo>
                  <a:pt x="579" y="160"/>
                  <a:pt x="538" y="241"/>
                  <a:pt x="469" y="310"/>
                </a:cubicBezTo>
                <a:cubicBezTo>
                  <a:pt x="384" y="395"/>
                  <a:pt x="281" y="437"/>
                  <a:pt x="161" y="437"/>
                </a:cubicBezTo>
                <a:cubicBezTo>
                  <a:pt x="161" y="437"/>
                  <a:pt x="160" y="437"/>
                  <a:pt x="160" y="437"/>
                </a:cubicBezTo>
                <a:cubicBezTo>
                  <a:pt x="160" y="497"/>
                  <a:pt x="160" y="497"/>
                  <a:pt x="160" y="497"/>
                </a:cubicBezTo>
                <a:cubicBezTo>
                  <a:pt x="0" y="341"/>
                  <a:pt x="0" y="341"/>
                  <a:pt x="0" y="341"/>
                </a:cubicBezTo>
                <a:cubicBezTo>
                  <a:pt x="160" y="185"/>
                  <a:pt x="160" y="185"/>
                  <a:pt x="160" y="185"/>
                </a:cubicBezTo>
                <a:cubicBezTo>
                  <a:pt x="160" y="250"/>
                  <a:pt x="160" y="250"/>
                  <a:pt x="160" y="250"/>
                </a:cubicBezTo>
                <a:cubicBezTo>
                  <a:pt x="160" y="250"/>
                  <a:pt x="161" y="250"/>
                  <a:pt x="161" y="250"/>
                </a:cubicBezTo>
                <a:cubicBezTo>
                  <a:pt x="230" y="250"/>
                  <a:pt x="288" y="226"/>
                  <a:pt x="337" y="177"/>
                </a:cubicBezTo>
                <a:cubicBezTo>
                  <a:pt x="371" y="143"/>
                  <a:pt x="393" y="104"/>
                  <a:pt x="403" y="61"/>
                </a:cubicBezTo>
                <a:close/>
              </a:path>
            </a:pathLst>
          </a:custGeom>
          <a:solidFill xmlns:a="http://schemas.openxmlformats.org/drawingml/2006/main">
            <a:srgbClr val="2B628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Freeform 7">
            <a:extLst xmlns:a="http://schemas.openxmlformats.org/drawingml/2006/main">
              <a:ext uri="{FF2B5EF4-FFF2-40B4-BE49-F238E27FC236}">
                <a16:creationId xmlns:a16="http://schemas.microsoft.com/office/drawing/2014/main" id="{766179E8-E8E8-4A0B-B4E0-BD434E31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640" y="1872720"/>
            <a:ext cx="1967040" cy="2360880"/>
          </a:xfrm>
          <a:custGeom xmlns:a="http://schemas.openxmlformats.org/drawingml/2006/main">
            <a:gdLst>
              <a:gd name="textAreaLeft" fmla="*/ 0 w 1967040"/>
              <a:gd name="textAreaRight" fmla="*/ 1967400 w 1967040"/>
              <a:gd name="textAreaTop" fmla="*/ 0 h 2360880"/>
              <a:gd name="textAreaBottom" fmla="*/ 2361240 h 2360880"/>
              <a:gd name="GluePoint1X" fmla="*/ 67 w 0"/>
              <a:gd name="GluePoint1Y" fmla="*/ 5 h 0"/>
              <a:gd name="GluePoint2X" fmla="*/ 309 w 0"/>
              <a:gd name="GluePoint2Y" fmla="*/ 129 h 0"/>
              <a:gd name="GluePoint3X" fmla="*/ 437 w 0"/>
              <a:gd name="GluePoint3Y" fmla="*/ 435 h 0"/>
              <a:gd name="GluePoint4X" fmla="*/ 498 w 0"/>
              <a:gd name="GluePoint4Y" fmla="*/ 435 h 0"/>
              <a:gd name="GluePoint5X" fmla="*/ 341 w 0"/>
              <a:gd name="GluePoint5Y" fmla="*/ 597 h 0"/>
              <a:gd name="GluePoint6X" fmla="*/ 184 w 0"/>
              <a:gd name="GluePoint6Y" fmla="*/ 435 h 0"/>
              <a:gd name="GluePoint7X" fmla="*/ 250 w 0"/>
              <a:gd name="GluePoint7Y" fmla="*/ 435 h 0"/>
              <a:gd name="GluePoint8X" fmla="*/ 177 w 0"/>
              <a:gd name="GluePoint8Y" fmla="*/ 261 h 0"/>
              <a:gd name="GluePoint9X" fmla="*/ 60 w 0"/>
              <a:gd name="GluePoint9Y" fmla="*/ 194 h 0"/>
              <a:gd name="GluePoint10X" fmla="*/ 1 w 0"/>
              <a:gd name="GluePoint10Y" fmla="*/ 188 h 0"/>
              <a:gd name="GluePoint11X" fmla="*/ 0 w 0"/>
              <a:gd name="GluePoint11Y" fmla="*/ 188 h 0"/>
              <a:gd name="GluePoint12X" fmla="*/ 0 w 0"/>
              <a:gd name="GluePoint12Y" fmla="*/ 0 h 0"/>
              <a:gd name="GluePoint13X" fmla="*/ 1 w 0"/>
              <a:gd name="GluePoint13Y" fmla="*/ 0 h 0"/>
              <a:gd name="GluePoint14X" fmla="*/ 67 w 0"/>
              <a:gd name="GluePoint14Y" fmla="*/ 5 h 0"/>
            </a:gdLst>
            <a:rect l="textAreaLeft" t="textAreaTop" r="textAreaRight" b="textAreaBottom"/>
            <a:pathLst>
              <a:path w="498" h="597">
                <a:moveTo>
                  <a:pt x="67" y="5"/>
                </a:moveTo>
                <a:cubicBezTo>
                  <a:pt x="159" y="18"/>
                  <a:pt x="240" y="59"/>
                  <a:pt x="309" y="129"/>
                </a:cubicBezTo>
                <a:cubicBezTo>
                  <a:pt x="394" y="213"/>
                  <a:pt x="436" y="315"/>
                  <a:pt x="437" y="435"/>
                </a:cubicBezTo>
                <a:cubicBezTo>
                  <a:pt x="498" y="435"/>
                  <a:pt x="498" y="435"/>
                  <a:pt x="498" y="435"/>
                </a:cubicBezTo>
                <a:cubicBezTo>
                  <a:pt x="341" y="597"/>
                  <a:pt x="341" y="597"/>
                  <a:pt x="341" y="597"/>
                </a:cubicBezTo>
                <a:cubicBezTo>
                  <a:pt x="184" y="435"/>
                  <a:pt x="184" y="435"/>
                  <a:pt x="184" y="435"/>
                </a:cubicBezTo>
                <a:cubicBezTo>
                  <a:pt x="250" y="435"/>
                  <a:pt x="250" y="435"/>
                  <a:pt x="250" y="435"/>
                </a:cubicBezTo>
                <a:cubicBezTo>
                  <a:pt x="249" y="367"/>
                  <a:pt x="225" y="309"/>
                  <a:pt x="177" y="261"/>
                </a:cubicBezTo>
                <a:cubicBezTo>
                  <a:pt x="143" y="227"/>
                  <a:pt x="104" y="205"/>
                  <a:pt x="60" y="194"/>
                </a:cubicBezTo>
                <a:cubicBezTo>
                  <a:pt x="41" y="190"/>
                  <a:pt x="21" y="188"/>
                  <a:pt x="1" y="188"/>
                </a:cubicBezTo>
                <a:cubicBezTo>
                  <a:pt x="1" y="188"/>
                  <a:pt x="0" y="188"/>
                  <a:pt x="0" y="188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24" y="0"/>
                  <a:pt x="46" y="2"/>
                  <a:pt x="67" y="5"/>
                </a:cubicBezTo>
                <a:close/>
              </a:path>
            </a:pathLst>
          </a:custGeom>
          <a:solidFill xmlns:a="http://schemas.openxmlformats.org/drawingml/2006/main">
            <a:srgbClr val="BD7227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Freeform 8">
            <a:extLst xmlns:a="http://schemas.openxmlformats.org/drawingml/2006/main">
              <a:ext uri="{FF2B5EF4-FFF2-40B4-BE49-F238E27FC236}">
                <a16:creationId xmlns:a16="http://schemas.microsoft.com/office/drawing/2014/main" id="{767FA18B-BC0A-4E75-9938-409E2290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2200" y="1632240"/>
            <a:ext cx="2352600" cy="1960560"/>
          </a:xfrm>
          <a:custGeom xmlns:a="http://schemas.openxmlformats.org/drawingml/2006/main">
            <a:gdLst>
              <a:gd name="textAreaLeft" fmla="*/ 0 w 2352600"/>
              <a:gd name="textAreaRight" fmla="*/ 2352960 w 2352600"/>
              <a:gd name="textAreaTop" fmla="*/ 0 h 1960560"/>
              <a:gd name="textAreaBottom" fmla="*/ 1960920 h 1960560"/>
              <a:gd name="GluePoint1X" fmla="*/ 96 w 0"/>
              <a:gd name="GluePoint1Y" fmla="*/ 338 h 0"/>
              <a:gd name="GluePoint2X" fmla="*/ 95 w 0"/>
              <a:gd name="GluePoint2Y" fmla="*/ 338 h 0"/>
              <a:gd name="GluePoint3X" fmla="*/ 96 w 0"/>
              <a:gd name="GluePoint3Y" fmla="*/ 338 h 0"/>
              <a:gd name="GluePoint4X" fmla="*/ 435 w 0"/>
              <a:gd name="GluePoint4Y" fmla="*/ 0 h 0"/>
              <a:gd name="GluePoint5X" fmla="*/ 595 w 0"/>
              <a:gd name="GluePoint5Y" fmla="*/ 157 h 0"/>
              <a:gd name="GluePoint6X" fmla="*/ 435 w 0"/>
              <a:gd name="GluePoint6Y" fmla="*/ 314 h 0"/>
              <a:gd name="GluePoint7X" fmla="*/ 435 w 0"/>
              <a:gd name="GluePoint7Y" fmla="*/ 249 h 0"/>
              <a:gd name="GluePoint8X" fmla="*/ 260 w 0"/>
              <a:gd name="GluePoint8Y" fmla="*/ 322 h 0"/>
              <a:gd name="GluePoint9X" fmla="*/ 194 w 0"/>
              <a:gd name="GluePoint9Y" fmla="*/ 437 h 0"/>
              <a:gd name="GluePoint10X" fmla="*/ 187 w 0"/>
              <a:gd name="GluePoint10Y" fmla="*/ 496 h 0"/>
              <a:gd name="GluePoint11X" fmla="*/ 0 w 0"/>
              <a:gd name="GluePoint11Y" fmla="*/ 496 h 0"/>
              <a:gd name="GluePoint12X" fmla="*/ 5 w 0"/>
              <a:gd name="GluePoint12Y" fmla="*/ 429 h 0"/>
              <a:gd name="GluePoint13X" fmla="*/ 128 w 0"/>
              <a:gd name="GluePoint13Y" fmla="*/ 190 h 0"/>
              <a:gd name="GluePoint14X" fmla="*/ 435 w 0"/>
              <a:gd name="GluePoint14Y" fmla="*/ 61 h 0"/>
              <a:gd name="GluePoint15X" fmla="*/ 435 w 0"/>
              <a:gd name="GluePoint15Y" fmla="*/ 0 h 0"/>
            </a:gdLst>
            <a:rect l="textAreaLeft" t="textAreaTop" r="textAreaRight" b="textAreaBottom"/>
            <a:pathLst>
              <a:path w="595" h="496">
                <a:moveTo>
                  <a:pt x="96" y="338"/>
                </a:moveTo>
                <a:cubicBezTo>
                  <a:pt x="96" y="338"/>
                  <a:pt x="95" y="338"/>
                  <a:pt x="95" y="338"/>
                </a:cubicBezTo>
                <a:cubicBezTo>
                  <a:pt x="96" y="338"/>
                  <a:pt x="96" y="338"/>
                  <a:pt x="96" y="338"/>
                </a:cubicBezTo>
                <a:close/>
                <a:moveTo>
                  <a:pt x="435" y="0"/>
                </a:moveTo>
                <a:cubicBezTo>
                  <a:pt x="595" y="157"/>
                  <a:pt x="595" y="157"/>
                  <a:pt x="595" y="157"/>
                </a:cubicBezTo>
                <a:cubicBezTo>
                  <a:pt x="435" y="314"/>
                  <a:pt x="435" y="314"/>
                  <a:pt x="435" y="314"/>
                </a:cubicBezTo>
                <a:cubicBezTo>
                  <a:pt x="435" y="249"/>
                  <a:pt x="435" y="249"/>
                  <a:pt x="435" y="249"/>
                </a:cubicBezTo>
                <a:cubicBezTo>
                  <a:pt x="367" y="249"/>
                  <a:pt x="309" y="273"/>
                  <a:pt x="260" y="322"/>
                </a:cubicBezTo>
                <a:cubicBezTo>
                  <a:pt x="227" y="356"/>
                  <a:pt x="204" y="394"/>
                  <a:pt x="194" y="437"/>
                </a:cubicBezTo>
                <a:cubicBezTo>
                  <a:pt x="190" y="456"/>
                  <a:pt x="187" y="475"/>
                  <a:pt x="187" y="496"/>
                </a:cubicBezTo>
                <a:cubicBezTo>
                  <a:pt x="0" y="496"/>
                  <a:pt x="0" y="496"/>
                  <a:pt x="0" y="496"/>
                </a:cubicBezTo>
                <a:cubicBezTo>
                  <a:pt x="0" y="473"/>
                  <a:pt x="2" y="451"/>
                  <a:pt x="5" y="429"/>
                </a:cubicBezTo>
                <a:cubicBezTo>
                  <a:pt x="18" y="338"/>
                  <a:pt x="59" y="258"/>
                  <a:pt x="128" y="190"/>
                </a:cubicBezTo>
                <a:cubicBezTo>
                  <a:pt x="213" y="104"/>
                  <a:pt x="315" y="62"/>
                  <a:pt x="435" y="61"/>
                </a:cubicBezTo>
                <a:lnTo>
                  <a:pt x="435" y="0"/>
                </a:lnTo>
                <a:close/>
              </a:path>
            </a:pathLst>
          </a:custGeom>
          <a:solidFill xmlns:a="http://schemas.openxmlformats.org/drawingml/2006/main">
            <a:srgbClr val="12695D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7887847-47D2-4F9D-AF39-F2B65F6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5480" y="3597840"/>
            <a:ext cx="443520" cy="43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>
                <a:solidFill>
                  <a:srgbClr val="BD7227"/>
                </a:solidFill>
              </a:defRPr>
            </a:pPr>
            <a:r>
              <a:rPr sz="2800" b="1" u="none">
                <a:solidFill>
                  <a:srgbClr val="BD722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5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4BDE01-9F58-47B3-9336-A194356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8400" y="4718880"/>
            <a:ext cx="443520" cy="43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>
                <a:solidFill>
                  <a:srgbClr val="2B6288"/>
                </a:solidFill>
              </a:defRPr>
            </a:pPr>
            <a:r>
              <a:rPr sz="2800" b="1" u="none">
                <a:solidFill>
                  <a:srgbClr val="2B628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9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446C433-BBE6-49FA-A1AA-6D1A69F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1720" y="2969280"/>
            <a:ext cx="1236240" cy="757440"/>
          </a:xfrm>
          <a:custGeom xmlns:a="http://schemas.openxmlformats.org/drawingml/2006/main">
            <a:gdLst>
              <a:gd name="textAreaLeft" fmla="*/ 0 w 1236240"/>
              <a:gd name="textAreaRight" fmla="*/ 1236600 w 1236240"/>
              <a:gd name="textAreaTop" fmla="*/ 0 h 757440"/>
              <a:gd name="textAreaBottom" fmla="*/ 757800 h 757440"/>
              <a:gd name="GluePoint1X" fmla="*/ 250 w 0"/>
              <a:gd name="GluePoint1Y" fmla="*/ 192 h 0"/>
              <a:gd name="GluePoint2X" fmla="*/ 62 w 0"/>
              <a:gd name="GluePoint2Y" fmla="*/ 192 h 0"/>
              <a:gd name="GluePoint3X" fmla="*/ 61 w 0"/>
              <a:gd name="GluePoint3Y" fmla="*/ 160 h 0"/>
              <a:gd name="GluePoint4X" fmla="*/ 61 w 0"/>
              <a:gd name="GluePoint4Y" fmla="*/ 158 h 0"/>
              <a:gd name="GluePoint5X" fmla="*/ 0 w 0"/>
              <a:gd name="GluePoint5Y" fmla="*/ 158 h 0"/>
              <a:gd name="GluePoint6X" fmla="*/ 157 w 0"/>
              <a:gd name="GluePoint6Y" fmla="*/ 0 h 0"/>
              <a:gd name="GluePoint7X" fmla="*/ 313 w 0"/>
              <a:gd name="GluePoint7Y" fmla="*/ 158 h 0"/>
              <a:gd name="GluePoint8X" fmla="*/ 248 w 0"/>
              <a:gd name="GluePoint8Y" fmla="*/ 158 h 0"/>
              <a:gd name="GluePoint9X" fmla="*/ 248 w 0"/>
              <a:gd name="GluePoint9Y" fmla="*/ 160 h 0"/>
              <a:gd name="GluePoint10X" fmla="*/ 250 w 0"/>
              <a:gd name="GluePoint10Y" fmla="*/ 192 h 0"/>
            </a:gdLst>
            <a:rect l="textAreaLeft" t="textAreaTop" r="textAreaRight" b="textAreaBottom"/>
            <a:pathLst>
              <a:path w="313" h="192">
                <a:moveTo>
                  <a:pt x="250" y="192"/>
                </a:moveTo>
                <a:cubicBezTo>
                  <a:pt x="62" y="192"/>
                  <a:pt x="62" y="192"/>
                  <a:pt x="62" y="192"/>
                </a:cubicBezTo>
                <a:cubicBezTo>
                  <a:pt x="61" y="182"/>
                  <a:pt x="61" y="171"/>
                  <a:pt x="61" y="160"/>
                </a:cubicBezTo>
                <a:cubicBezTo>
                  <a:pt x="61" y="159"/>
                  <a:pt x="61" y="158"/>
                  <a:pt x="61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157" y="0"/>
                  <a:pt x="157" y="0"/>
                  <a:pt x="157" y="0"/>
                </a:cubicBezTo>
                <a:cubicBezTo>
                  <a:pt x="313" y="158"/>
                  <a:pt x="313" y="158"/>
                  <a:pt x="313" y="158"/>
                </a:cubicBezTo>
                <a:cubicBezTo>
                  <a:pt x="248" y="158"/>
                  <a:pt x="248" y="158"/>
                  <a:pt x="248" y="158"/>
                </a:cubicBezTo>
                <a:cubicBezTo>
                  <a:pt x="248" y="158"/>
                  <a:pt x="248" y="159"/>
                  <a:pt x="248" y="160"/>
                </a:cubicBezTo>
                <a:cubicBezTo>
                  <a:pt x="248" y="171"/>
                  <a:pt x="249" y="182"/>
                  <a:pt x="250" y="192"/>
                </a:cubicBezTo>
                <a:close/>
              </a:path>
            </a:pathLst>
          </a:custGeom>
          <a:solidFill xmlns:a="http://schemas.openxmlformats.org/drawingml/2006/main">
            <a:srgbClr val="43B36D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0869AEA-071D-48BE-BB27-BD417696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040" y="2005920"/>
            <a:ext cx="442080" cy="43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>
                <a:solidFill>
                  <a:srgbClr val="12695D"/>
                </a:solidFill>
              </a:defRPr>
            </a:pPr>
            <a:r>
              <a:rPr sz="28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BD21E2-35FC-45AB-9437-823B0507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3600" y="3260520"/>
            <a:ext cx="442080" cy="43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>
                <a:solidFill>
                  <a:srgbClr val="43B36D"/>
                </a:solidFill>
              </a:defRPr>
            </a:pPr>
            <a:r>
              <a:rPr sz="2800" b="1" u="none">
                <a:solidFill>
                  <a:srgbClr val="43B36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0" name="Subtitle 2">
            <a:extLst xmlns:a="http://schemas.openxmlformats.org/drawingml/2006/main">
              <a:ext uri="{FF2B5EF4-FFF2-40B4-BE49-F238E27FC236}">
                <a16:creationId xmlns:a16="http://schemas.microsoft.com/office/drawing/2014/main" id="{BCEB0705-1C43-4E60-8BF3-367CBDDF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080" y="2257920"/>
            <a:ext cx="3422160" cy="97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12695D"/>
                </a:solidFill>
              </a:defRPr>
            </a:pPr>
            <a:r>
              <a:rPr sz="1400" b="0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明确目标与边界</a:t>
            </a:r>
          </a:p>
        </p:txBody>
      </p:sp>
      <p:sp>
        <p:nvSpPr>
          <p:cNvPr id="101" name="Subtitle 2">
            <a:extLst xmlns:a="http://schemas.openxmlformats.org/drawingml/2006/main">
              <a:ext uri="{FF2B5EF4-FFF2-40B4-BE49-F238E27FC236}">
                <a16:creationId xmlns:a16="http://schemas.microsoft.com/office/drawing/2014/main" id="{512D8A5B-F3E1-4B1A-AA7E-2281D4C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080" y="1720440"/>
            <a:ext cx="3422160" cy="50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12695D"/>
                </a:solidFill>
              </a:defRPr>
            </a:pPr>
            <a:r>
              <a:rPr sz="3200" b="0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DC22215-C6FE-4D97-A71C-2A356987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080" y="4475160"/>
            <a:ext cx="3422160" cy="97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BD7227"/>
                </a:solidFill>
              </a:defRPr>
            </a:pPr>
            <a:r>
              <a:rPr sz="1400" b="0" u="none">
                <a:solidFill>
                  <a:srgbClr val="BD7227"/>
                </a:solidFill>
                <a:latin typeface="微软雅黑"/>
                <a:ea typeface="微软雅黑"/>
                <a:cs typeface="微软雅黑"/>
              </a:rPr>
              <a:t>形成方案与分工</a:t>
            </a:r>
          </a:p>
        </p:txBody>
      </p:sp>
      <p:sp>
        <p:nvSpPr>
          <p:cNvPr id="104" name="Subtitle 2">
            <a:extLst xmlns:a="http://schemas.openxmlformats.org/drawingml/2006/main">
              <a:ext uri="{FF2B5EF4-FFF2-40B4-BE49-F238E27FC236}">
                <a16:creationId xmlns:a16="http://schemas.microsoft.com/office/drawing/2014/main" id="{159D648F-A93C-45E5-ABF5-C372FEBC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080" y="3937680"/>
            <a:ext cx="3422160" cy="50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43B36D"/>
                </a:solidFill>
              </a:defRPr>
            </a:pPr>
            <a:r>
              <a:rPr sz="3200" b="0" u="none">
                <a:solidFill>
                  <a:srgbClr val="43B36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6" name="Subtitle 2">
            <a:extLst xmlns:a="http://schemas.openxmlformats.org/drawingml/2006/main">
              <a:ext uri="{FF2B5EF4-FFF2-40B4-BE49-F238E27FC236}">
                <a16:creationId xmlns:a16="http://schemas.microsoft.com/office/drawing/2014/main" id="{E1CE9B9B-9A42-4FF3-81C2-7023DFAD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7280" y="2257920"/>
            <a:ext cx="3503880" cy="97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2B6288"/>
                </a:solidFill>
              </a:defRPr>
            </a:pPr>
            <a:r>
              <a:rPr sz="1400" b="0" u="none">
                <a:solidFill>
                  <a:srgbClr val="2B6288"/>
                </a:solidFill>
                <a:latin typeface="微软雅黑"/>
                <a:ea typeface="微软雅黑"/>
                <a:cs typeface="微软雅黑"/>
              </a:rPr>
              <a:t>验证数据与结果</a:t>
            </a:r>
          </a:p>
        </p:txBody>
      </p:sp>
      <p:sp>
        <p:nvSpPr>
          <p:cNvPr id="107" name="Subtitle 2">
            <a:extLst xmlns:a="http://schemas.openxmlformats.org/drawingml/2006/main">
              <a:ext uri="{FF2B5EF4-FFF2-40B4-BE49-F238E27FC236}">
                <a16:creationId xmlns:a16="http://schemas.microsoft.com/office/drawing/2014/main" id="{C8A0AE77-51DF-4F74-A490-98333362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7280" y="1720440"/>
            <a:ext cx="3503880" cy="50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BD7227"/>
                </a:solidFill>
              </a:defRPr>
            </a:pPr>
            <a:r>
              <a:rPr sz="3200" b="0" u="none">
                <a:solidFill>
                  <a:srgbClr val="BD722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9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FFDEB6-DAB4-426A-A8B5-9CB70E78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7280" y="4475160"/>
            <a:ext cx="3503880" cy="97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43B36D"/>
                </a:solidFill>
              </a:defRPr>
            </a:pPr>
            <a:r>
              <a:rPr sz="1400" b="0" u="none">
                <a:solidFill>
                  <a:srgbClr val="43B36D"/>
                </a:solidFill>
                <a:latin typeface="微软雅黑"/>
                <a:ea typeface="微软雅黑"/>
                <a:cs typeface="微软雅黑"/>
              </a:rPr>
              <a:t>复盘迭代与扩展</a:t>
            </a:r>
          </a:p>
        </p:txBody>
      </p:sp>
      <p:sp>
        <p:nvSpPr>
          <p:cNvPr id="110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B6FE36-AC4E-4636-B668-55A6F0E4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7280" y="3937680"/>
            <a:ext cx="3503880" cy="50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0000"/>
              </a:lnSpc>
              <a:buNone/>
              <a:tabLst>
                <a:tab pos="0" algn="l"/>
              </a:tabLst>
              <a:defRPr>
                <a:solidFill>
                  <a:srgbClr val="2B6288"/>
                </a:solidFill>
              </a:defRPr>
            </a:pPr>
            <a:r>
              <a:rPr sz="3200" b="0" u="none">
                <a:solidFill>
                  <a:srgbClr val="2B628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11" name="Mint page marker line 9">
            <a:extLst xmlns:a="http://schemas.openxmlformats.org/drawingml/2006/main">
              <a:ext uri="{FF2B5EF4-FFF2-40B4-BE49-F238E27FC236}">
                <a16:creationId xmlns:a16="http://schemas.microsoft.com/office/drawing/2014/main" id="{0AC654B2-9AAD-46DD-BBDD-4CE22944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Mint page number 9">
            <a:extLst xmlns:a="http://schemas.openxmlformats.org/drawingml/2006/main">
              <a:ext uri="{FF2B5EF4-FFF2-40B4-BE49-F238E27FC236}">
                <a16:creationId xmlns:a16="http://schemas.microsoft.com/office/drawing/2014/main" id="{2F07E688-1840-4ABE-9FA6-BAB304C9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9345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92E9340-8646-44A1-A997-9525D88AE690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57200" y="1338840"/>
            <a:ext cx="4343040" cy="483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1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趋势图用于说明变化，而不是罗列数字。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用一句话指出拐点、差距或节奏。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说明时间范围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标出关键事件</a:t>
            </a:r>
          </a:p>
          <a:p xmlns:a="http://schemas.openxmlformats.org/drawingml/2006/main"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D80C18"/>
              </a:buClr>
              <a:buFont typeface="Arial"/>
              <a:buChar char="•"/>
              <a:tabLst>
                <a:tab pos="0" algn="l"/>
              </a:tabLst>
              <a:defRPr>
                <a:solidFill>
                  <a:srgbClr val="17201D"/>
                </a:solidFill>
              </a:defRPr>
            </a:pPr>
            <a:r>
              <a:rPr sz="1800" b="0" u="none">
                <a:solidFill>
                  <a:srgbClr val="17201D"/>
                </a:solidFill>
                <a:latin typeface="微软雅黑"/>
                <a:ea typeface="微软雅黑"/>
                <a:cs typeface="微软雅黑"/>
              </a:rPr>
              <a:t>给出下一步判断</a:t>
            </a:r>
          </a:p>
        </p:txBody>
      </p:sp>
      <p:graphicFrame>
        <p:nvGraphicFramePr>
          <p:cNvPr id="119" name="Content Placeholder 8"/>
          <p:cNvGraphicFramePr/>
          <p:nvPr/>
        </p:nvGraphicFramePr>
        <p:xfrm>
          <a:off xmlns:a="http://schemas.openxmlformats.org/drawingml/2006/main" x="5018040" y="1338120"/>
          <a:ext xmlns:a="http://schemas.openxmlformats.org/drawingml/2006/main" cx="6730560" cy="46461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447c0ed5394c26"/>
          </a:graphicData>
        </a:graphic>
      </p:graphicFrame>
      <p:sp>
        <p:nvSpPr>
          <p:cNvPr id="11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481F3E7-D4A9-4A2C-B4DF-E01EE1B2960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7200" y="457200"/>
            <a:ext cx="11277360" cy="8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10000"/>
              </a:lnSpc>
              <a:buNone/>
              <a:defRPr>
                <a:solidFill>
                  <a:srgbClr val="12695D"/>
                </a:solidFill>
              </a:defRPr>
            </a:pPr>
            <a:r>
              <a:rPr sz="32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正文 + 趋势图</a:t>
            </a:r>
          </a:p>
        </p:txBody>
      </p:sp>
      <p:sp>
        <p:nvSpPr>
          <p:cNvPr id="116" name="Mint page marker line 10">
            <a:extLst xmlns:a="http://schemas.openxmlformats.org/drawingml/2006/main">
              <a:ext uri="{FF2B5EF4-FFF2-40B4-BE49-F238E27FC236}">
                <a16:creationId xmlns:a16="http://schemas.microsoft.com/office/drawing/2014/main" id="{C7A7FD8F-8B1E-4865-AB39-2BEB1DF3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Mint page number 10">
            <a:extLst xmlns:a="http://schemas.openxmlformats.org/drawingml/2006/main">
              <a:ext uri="{FF2B5EF4-FFF2-40B4-BE49-F238E27FC236}">
                <a16:creationId xmlns:a16="http://schemas.microsoft.com/office/drawing/2014/main" id="{EB4153A5-1236-4989-B9AF-696504BD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r>
              <a:rPr sz="975" b="1">
                <a:solidFill>
                  <a:srgbClr val="12695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74024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Placeholder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107b25c034151"/>
          <a:srcRect xmlns:a="http://schemas.openxmlformats.org/drawingml/2006/main" l="0" t="28" r="0" b="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" name="Mint page marker line 11">
            <a:extLst xmlns:a="http://schemas.openxmlformats.org/drawingml/2006/main">
              <a:ext uri="{FF2B5EF4-FFF2-40B4-BE49-F238E27FC236}">
                <a16:creationId xmlns:a16="http://schemas.microsoft.com/office/drawing/2014/main" id="{65F7ADDB-69D7-47AF-978D-B29CFAB6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int page number 11">
            <a:extLst xmlns:a="http://schemas.openxmlformats.org/drawingml/2006/main">
              <a:ext uri="{FF2B5EF4-FFF2-40B4-BE49-F238E27FC236}">
                <a16:creationId xmlns:a16="http://schemas.microsoft.com/office/drawing/2014/main" id="{3C9B223F-D053-4CDC-9F2A-E1ECB4E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28944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69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AEF0F9C-F20E-47CC-9AEA-764A61B9B64C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CDDD377-02C8-4C05-98D9-775B1447F8A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809712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战略与目标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Strategy &amp; Direction</a:t>
            </a:r>
          </a:p>
        </p:txBody>
      </p:sp>
      <p:sp>
        <p:nvSpPr>
          <p:cNvPr id="120" name="Mint page marker line 12">
            <a:extLst xmlns:a="http://schemas.openxmlformats.org/drawingml/2006/main">
              <a:ext uri="{FF2B5EF4-FFF2-40B4-BE49-F238E27FC236}">
                <a16:creationId xmlns:a16="http://schemas.microsoft.com/office/drawing/2014/main" id="{ED849C4D-14BE-4185-B7A5-3B3A5F09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Mint page number 12">
            <a:extLst xmlns:a="http://schemas.openxmlformats.org/drawingml/2006/main">
              <a:ext uri="{FF2B5EF4-FFF2-40B4-BE49-F238E27FC236}">
                <a16:creationId xmlns:a16="http://schemas.microsoft.com/office/drawing/2014/main" id="{1D2D4FDE-F376-4F16-859B-2196A345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16050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3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C9AF776-A331-4E54-A6CF-A5D659986406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FEA2248-72E3-4CE4-AF27-638CB2816FE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809712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产品与客户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Product &amp; Customer</a:t>
            </a:r>
          </a:p>
        </p:txBody>
      </p:sp>
      <p:sp>
        <p:nvSpPr>
          <p:cNvPr id="123" name="Mint page marker line 13">
            <a:extLst xmlns:a="http://schemas.openxmlformats.org/drawingml/2006/main">
              <a:ext uri="{FF2B5EF4-FFF2-40B4-BE49-F238E27FC236}">
                <a16:creationId xmlns:a16="http://schemas.microsoft.com/office/drawing/2014/main" id="{F8339EF9-A6BD-4A32-9A71-6AF8109E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Mint page number 13">
            <a:extLst xmlns:a="http://schemas.openxmlformats.org/drawingml/2006/main">
              <a:ext uri="{FF2B5EF4-FFF2-40B4-BE49-F238E27FC236}">
                <a16:creationId xmlns:a16="http://schemas.microsoft.com/office/drawing/2014/main" id="{3832C431-8EF7-49B7-A162-8C0650C5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58575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BD72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03F855D-5118-4E02-9E6E-282686ABC076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23E9884-E8D9-4857-A090-050EF59421F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809712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经营与增长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Growth &amp; Operations</a:t>
            </a:r>
          </a:p>
        </p:txBody>
      </p:sp>
      <p:sp>
        <p:nvSpPr>
          <p:cNvPr id="126" name="Mint page marker line 14">
            <a:extLst xmlns:a="http://schemas.openxmlformats.org/drawingml/2006/main">
              <a:ext uri="{FF2B5EF4-FFF2-40B4-BE49-F238E27FC236}">
                <a16:creationId xmlns:a16="http://schemas.microsoft.com/office/drawing/2014/main" id="{66E21DBB-377E-421C-9527-0AFF3CE8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Mint page number 14">
            <a:extLst xmlns:a="http://schemas.openxmlformats.org/drawingml/2006/main">
              <a:ext uri="{FF2B5EF4-FFF2-40B4-BE49-F238E27FC236}">
                <a16:creationId xmlns:a16="http://schemas.microsoft.com/office/drawing/2014/main" id="{AD17D858-EE9D-4DC7-858E-A0E3530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8011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B62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3F15B54-F4D8-433A-820A-58E1436546A1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3DB9A53-5903-4F4D-B7E3-E7CAC08DCA3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809712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数据与风控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Data &amp; Risk</a:t>
            </a:r>
          </a:p>
        </p:txBody>
      </p:sp>
      <p:sp>
        <p:nvSpPr>
          <p:cNvPr id="129" name="Mint page marker line 15">
            <a:extLst xmlns:a="http://schemas.openxmlformats.org/drawingml/2006/main">
              <a:ext uri="{FF2B5EF4-FFF2-40B4-BE49-F238E27FC236}">
                <a16:creationId xmlns:a16="http://schemas.microsoft.com/office/drawing/2014/main" id="{1064FD1E-BE72-4DDE-AD3D-2E153B8C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Mint page number 15">
            <a:extLst xmlns:a="http://schemas.openxmlformats.org/drawingml/2006/main">
              <a:ext uri="{FF2B5EF4-FFF2-40B4-BE49-F238E27FC236}">
                <a16:creationId xmlns:a16="http://schemas.microsoft.com/office/drawing/2014/main" id="{6761A206-F41A-4564-ADD9-01FAC16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55063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43B36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834CD02-73E6-4CD0-9EC0-24ED69FDADE9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65F5F34-9EF7-4AB0-930A-3EBEFB45CB0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809712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技术与交付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Technology &amp; Delivery</a:t>
            </a:r>
          </a:p>
        </p:txBody>
      </p:sp>
      <p:sp>
        <p:nvSpPr>
          <p:cNvPr id="132" name="Mint page marker line 16">
            <a:extLst xmlns:a="http://schemas.openxmlformats.org/drawingml/2006/main">
              <a:ext uri="{FF2B5EF4-FFF2-40B4-BE49-F238E27FC236}">
                <a16:creationId xmlns:a16="http://schemas.microsoft.com/office/drawing/2014/main" id="{51E901DC-7D20-494D-BE86-123D359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Mint page number 16">
            <a:extLst xmlns:a="http://schemas.openxmlformats.org/drawingml/2006/main">
              <a:ext uri="{FF2B5EF4-FFF2-40B4-BE49-F238E27FC236}">
                <a16:creationId xmlns:a16="http://schemas.microsoft.com/office/drawing/2014/main" id="{A9FF41AC-DD1F-459E-BE2F-910D9840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04339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9B2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386824B-36EA-4A67-A4F1-536EFB8FA896}"/>
              </a:ext>
            </a:extLst>
          </p:cNvPr>
          <p:cNvSpPr>
            <a:spLocks xmlns:a="http://schemas.openxmlformats.org/drawingml/2006/main" noGrp="1"/>
          </p:cNvSpPr>
          <p:nvPr>
            <p:ph idx="0" hasCustomPrompt="1"/>
          </p:nvPr>
        </p:nvSpPr>
        <p:spPr>
          <a:xfrm xmlns:a="http://schemas.openxmlformats.org/drawingml/2006/main">
            <a:off x="442800" y="1338840"/>
            <a:ext cx="4237920" cy="175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12000" b="0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3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D9AB19C-CD4A-42FE-ABA2-93E899B1763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3263400"/>
            <a:ext cx="8097120" cy="19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风险与决策</a:t>
            </a:r>
          </a:p>
          <a:p xmlns:a="http://schemas.openxmlformats.org/drawingml/2006/main"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  <a:defRPr>
                <a:solidFill>
                  <a:srgbClr val="FFF8EA"/>
                </a:solidFill>
              </a:defRPr>
            </a:pPr>
            <a:r>
              <a:rPr sz="3600" b="1" u="none">
                <a:solidFill>
                  <a:srgbClr val="FFF8EA"/>
                </a:solidFill>
                <a:latin typeface="微软雅黑"/>
                <a:ea typeface="微软雅黑"/>
                <a:cs typeface="微软雅黑"/>
              </a:rPr>
              <a:t>Risk &amp; Decision</a:t>
            </a:r>
          </a:p>
        </p:txBody>
      </p:sp>
      <p:sp>
        <p:nvSpPr>
          <p:cNvPr id="135" name="Mint page marker line 17">
            <a:extLst xmlns:a="http://schemas.openxmlformats.org/drawingml/2006/main">
              <a:ext uri="{FF2B5EF4-FFF2-40B4-BE49-F238E27FC236}">
                <a16:creationId xmlns:a16="http://schemas.microsoft.com/office/drawing/2014/main" id="{3C28E0B0-2651-4AA8-B280-631068E4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Mint page number 17">
            <a:extLst xmlns:a="http://schemas.openxmlformats.org/drawingml/2006/main">
              <a:ext uri="{FF2B5EF4-FFF2-40B4-BE49-F238E27FC236}">
                <a16:creationId xmlns:a16="http://schemas.microsoft.com/office/drawing/2014/main" id="{F90D8255-DA87-4A1C-AFEF-2FD6BCA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8645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extBox 1">
            <a:extLst xmlns:a="http://schemas.openxmlformats.org/drawingml/2006/main">
              <a:ext uri="{FF2B5EF4-FFF2-40B4-BE49-F238E27FC236}">
                <a16:creationId xmlns:a16="http://schemas.microsoft.com/office/drawing/2014/main" id="{EC6E07FC-58D6-4207-827D-B24ED1A3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11200" y="-1502280"/>
            <a:ext cx="184320" cy="36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4693CDB-7580-4F15-ACE4-F3B2B3B43CF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6400" y="2706120"/>
            <a:ext cx="6545880" cy="236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9360" indent="0" algn="l" defTabSz="914400">
              <a:lnSpc>
                <a:spcPct val="120000"/>
              </a:lnSpc>
              <a:buNone/>
              <a:defRPr>
                <a:solidFill>
                  <a:srgbClr val="12695D"/>
                </a:solidFill>
              </a:defRPr>
            </a:pPr>
            <a:r>
              <a:rPr sz="48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  <a:p xmlns:a="http://schemas.openxmlformats.org/drawingml/2006/main">
            <a:pPr marL="9360" indent="0" algn="l" defTabSz="914400">
              <a:lnSpc>
                <a:spcPct val="120000"/>
              </a:lnSpc>
              <a:buNone/>
              <a:defRPr>
                <a:solidFill>
                  <a:srgbClr val="12695D"/>
                </a:solidFill>
              </a:defRPr>
            </a:pPr>
            <a:r>
              <a:rPr sz="4800" b="1" u="none">
                <a:solidFill>
                  <a:srgbClr val="12695D"/>
                </a:solidFill>
                <a:latin typeface="微软雅黑"/>
                <a:ea typeface="微软雅黑"/>
                <a:cs typeface="微软雅黑"/>
              </a:rPr>
              <a:t>Thanks</a:t>
            </a:r>
          </a:p>
        </p:txBody>
      </p:sp>
      <p:sp>
        <p:nvSpPr>
          <p:cNvPr id="137" name="Mint page marker line 18">
            <a:extLst xmlns:a="http://schemas.openxmlformats.org/drawingml/2006/main">
              <a:ext uri="{FF2B5EF4-FFF2-40B4-BE49-F238E27FC236}">
                <a16:creationId xmlns:a16="http://schemas.microsoft.com/office/drawing/2014/main" id="{E2A8BBC0-BC99-48F5-8877-400FD50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Mint page number 18">
            <a:extLst xmlns:a="http://schemas.openxmlformats.org/drawingml/2006/main">
              <a:ext uri="{FF2B5EF4-FFF2-40B4-BE49-F238E27FC236}">
                <a16:creationId xmlns:a16="http://schemas.microsoft.com/office/drawing/2014/main" id="{09AD41F9-F273-4778-95F2-58081F3F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8EA"/>
                </a:solidFill>
              </a:defRPr>
            </a:pPr>
            <a:r>
              <a:rPr sz="975" b="1">
                <a:solidFill>
                  <a:srgbClr val="FFF8EA"/>
                </a:solidFill>
              </a:rPr>
              <a:t>18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4d944a31a44fd"/>
          <a:stretch xmlns:a="http://schemas.openxmlformats.org/drawingml/2006/main"/>
        </p:blipFill>
        <p:spPr>
          <a:xfrm xmlns:a="http://schemas.openxmlformats.org/drawingml/2006/main">
            <a:off x="775635" y="677513"/>
            <a:ext cx="1001810" cy="3228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01040"/>
      </p:ext>
    </p:extLst>
  </p:cSld>
</p:sld>
</file>

<file path=ppt/theme/theme1.xml><?xml version="1.0" encoding="utf-8"?>
<a:theme xmlns:a="http://schemas.openxmlformats.org/drawingml/2006/main" name="WeBank">
  <a:themeElements>
    <a:clrScheme name="Mint Financial Platform">
      <a:dk1>
        <a:srgbClr val="17201D"/>
      </a:dk1>
      <a:lt1>
        <a:srgbClr val="FFF8EA"/>
      </a:lt1>
      <a:dk2>
        <a:srgbClr val="52615B"/>
      </a:dk2>
      <a:lt2>
        <a:srgbClr val="EDF2EF"/>
      </a:lt2>
      <a:accent1>
        <a:srgbClr val="12695D"/>
      </a:accent1>
      <a:accent2>
        <a:srgbClr val="BD7227"/>
      </a:accent2>
      <a:accent3>
        <a:srgbClr val="2B6288"/>
      </a:accent3>
      <a:accent4>
        <a:srgbClr val="43B36D"/>
      </a:accent4>
      <a:accent5>
        <a:srgbClr val="12352E"/>
      </a:accent5>
      <a:accent6>
        <a:srgbClr val="9B2121"/>
      </a:accent6>
      <a:hlink>
        <a:srgbClr val="2B6288"/>
      </a:hlink>
      <a:folHlink>
        <a:srgbClr val="BD7227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Mint Financial Platfo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2026-08-04T09:28:47.9700000Z</dcterms:created>
  <dcterms:modified xsi:type="dcterms:W3CDTF">2026-08-04T09:28:47.9700000Z</dcterms:modified>
</coreProperties>
</file>